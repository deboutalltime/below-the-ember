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1ac5ee1d3534afd" /><Relationship Type="http://schemas.openxmlformats.org/officeDocument/2006/relationships/extended-properties" Target="/docProps/app.xml" Id="Rf5274084a4a44339" /><Relationship Type="http://schemas.openxmlformats.org/officeDocument/2006/relationships/officeDocument" Target="/ppt/presentation.xml" Id="Rcb33ed558e344cde" /></Relationships>
</file>

<file path=ppt/presentation.xml><?xml version="1.0" encoding="utf-8"?>
<p:presentation xmlns:p="http://schemas.openxmlformats.org/presentationml/2006/main">
  <p:sldMasterIdLst>
    <p:sldMasterId xmlns:r="http://schemas.openxmlformats.org/officeDocument/2006/relationships" id="2147483648" r:id="R242c6d16c6af4ce3"/>
  </p:sldMasterIdLst>
  <p:notesMasterIdLst>
    <p:notesMasterId xmlns:r="http://schemas.openxmlformats.org/officeDocument/2006/relationships" r:id="R03c9da44007f4bd7"/>
  </p:notesMasterIdLst>
  <p:sldIdLst>
    <p:sldId xmlns:r="http://schemas.openxmlformats.org/officeDocument/2006/relationships" id="256" r:id="R731f0c85c8ad4a6b"/>
    <p:sldId xmlns:r="http://schemas.openxmlformats.org/officeDocument/2006/relationships" id="257" r:id="R68bd0f22a7304609"/>
    <p:sldId xmlns:r="http://schemas.openxmlformats.org/officeDocument/2006/relationships" id="258" r:id="R120b25fa7153466e"/>
    <p:sldId xmlns:r="http://schemas.openxmlformats.org/officeDocument/2006/relationships" id="259" r:id="R3835d12100484fd7"/>
    <p:sldId xmlns:r="http://schemas.openxmlformats.org/officeDocument/2006/relationships" id="260" r:id="R5a78f6f1716c4c04"/>
    <p:sldId xmlns:r="http://schemas.openxmlformats.org/officeDocument/2006/relationships" id="261" r:id="Rf936413fc2b043f7"/>
    <p:sldId xmlns:r="http://schemas.openxmlformats.org/officeDocument/2006/relationships" id="262" r:id="R4aec3f2329ac4c8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2503f73daeb47d3" /><Relationship Type="http://schemas.openxmlformats.org/officeDocument/2006/relationships/slideMaster" Target="/ppt/slideMasters/slideMaster1.xml" Id="R242c6d16c6af4ce3" /><Relationship Type="http://schemas.openxmlformats.org/officeDocument/2006/relationships/notesMaster" Target="/ppt/notesMasters/notesMaster1.xml" Id="R03c9da44007f4bd7" /><Relationship Type="http://schemas.openxmlformats.org/officeDocument/2006/relationships/presProps" Target="/ppt/presProps.xml" Id="Ra26aac876a534e6e" /><Relationship Type="http://schemas.openxmlformats.org/officeDocument/2006/relationships/tableStyles" Target="/ppt/tableStyles.xml" Id="R6b95524f12374e20" /><Relationship Type="http://schemas.openxmlformats.org/officeDocument/2006/relationships/slide" Target="/ppt/slides/slide1.xml" Id="R731f0c85c8ad4a6b" /><Relationship Type="http://schemas.openxmlformats.org/officeDocument/2006/relationships/slide" Target="/ppt/slides/slide2.xml" Id="R68bd0f22a7304609" /><Relationship Type="http://schemas.openxmlformats.org/officeDocument/2006/relationships/slide" Target="/ppt/slides/slide3.xml" Id="R120b25fa7153466e" /><Relationship Type="http://schemas.openxmlformats.org/officeDocument/2006/relationships/slide" Target="/ppt/slides/slide4.xml" Id="R3835d12100484fd7" /><Relationship Type="http://schemas.openxmlformats.org/officeDocument/2006/relationships/slide" Target="/ppt/slides/slide5.xml" Id="R5a78f6f1716c4c04" /><Relationship Type="http://schemas.openxmlformats.org/officeDocument/2006/relationships/slide" Target="/ppt/slides/slide6.xml" Id="Rf936413fc2b043f7" /><Relationship Type="http://schemas.openxmlformats.org/officeDocument/2006/relationships/slide" Target="/ppt/slides/slide7.xml" Id="R4aec3f2329ac4c8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bfedd2863b045a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0a80b30554e4f5e" /><Relationship Type="http://schemas.openxmlformats.org/officeDocument/2006/relationships/notesMaster" Target="/ppt/notesMasters/notesMaster1.xml" Id="R4dbe7a7723314e23" /></Relationships>
</file>

<file path=ppt/notesSlides/_rels/notesSlide2.xml.rels>&#65279;<?xml version="1.0" encoding="utf-8"?><Relationships xmlns="http://schemas.openxmlformats.org/package/2006/relationships"><Relationship Type="http://schemas.openxmlformats.org/officeDocument/2006/relationships/slide" Target="/ppt/slides/slide2.xml" Id="R6affe69da700465c" /><Relationship Type="http://schemas.openxmlformats.org/officeDocument/2006/relationships/notesMaster" Target="/ppt/notesMasters/notesMaster1.xml" Id="Ra466ee98a9f24e6c" /></Relationships>
</file>

<file path=ppt/notesSlides/_rels/notesSlide3.xml.rels>&#65279;<?xml version="1.0" encoding="utf-8"?><Relationships xmlns="http://schemas.openxmlformats.org/package/2006/relationships"><Relationship Type="http://schemas.openxmlformats.org/officeDocument/2006/relationships/slide" Target="/ppt/slides/slide3.xml" Id="Ra545f433af914952" /><Relationship Type="http://schemas.openxmlformats.org/officeDocument/2006/relationships/notesMaster" Target="/ppt/notesMasters/notesMaster1.xml" Id="R43e19c79fbdc4188" /></Relationships>
</file>

<file path=ppt/notesSlides/_rels/notesSlide4.xml.rels>&#65279;<?xml version="1.0" encoding="utf-8"?><Relationships xmlns="http://schemas.openxmlformats.org/package/2006/relationships"><Relationship Type="http://schemas.openxmlformats.org/officeDocument/2006/relationships/slide" Target="/ppt/slides/slide4.xml" Id="Rea10dc1f082c422c" /><Relationship Type="http://schemas.openxmlformats.org/officeDocument/2006/relationships/notesMaster" Target="/ppt/notesMasters/notesMaster1.xml" Id="Rbc47c65ecb2e4080" /></Relationships>
</file>

<file path=ppt/notesSlides/_rels/notesSlide5.xml.rels>&#65279;<?xml version="1.0" encoding="utf-8"?><Relationships xmlns="http://schemas.openxmlformats.org/package/2006/relationships"><Relationship Type="http://schemas.openxmlformats.org/officeDocument/2006/relationships/slide" Target="/ppt/slides/slide5.xml" Id="R38da7883d62f41b8" /><Relationship Type="http://schemas.openxmlformats.org/officeDocument/2006/relationships/notesMaster" Target="/ppt/notesMasters/notesMaster1.xml" Id="R648f5a00fc8b482d" /></Relationships>
</file>

<file path=ppt/notesSlides/_rels/notesSlide6.xml.rels>&#65279;<?xml version="1.0" encoding="utf-8"?><Relationships xmlns="http://schemas.openxmlformats.org/package/2006/relationships"><Relationship Type="http://schemas.openxmlformats.org/officeDocument/2006/relationships/slide" Target="/ppt/slides/slide6.xml" Id="R639c0f337b20446b" /><Relationship Type="http://schemas.openxmlformats.org/officeDocument/2006/relationships/notesMaster" Target="/ppt/notesMasters/notesMaster1.xml" Id="R9b66ad0fa5704ec5" /></Relationships>
</file>

<file path=ppt/notesSlides/_rels/notesSlide7.xml.rels>&#65279;<?xml version="1.0" encoding="utf-8"?><Relationships xmlns="http://schemas.openxmlformats.org/package/2006/relationships"><Relationship Type="http://schemas.openxmlformats.org/officeDocument/2006/relationships/slide" Target="/ppt/slides/slide7.xml" Id="R53ddb9cadcf94d29" /><Relationship Type="http://schemas.openxmlformats.org/officeDocument/2006/relationships/notesMaster" Target="/ppt/notesMasters/notesMaster1.xml" Id="Re95bef60fbff45d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script (B2 English):</a:t>
            </a:r>
          </a:p>
          <a:p xmlns:a="http://schemas.openxmlformats.org/drawingml/2006/main">
            <a:r>
              <a:t/>
            </a:r>
          </a:p>
          <a:p xmlns:a="http://schemas.openxmlformats.org/drawingml/2006/main">
            <a:r>
              <a:t>Below the Ember is a 2D action game that runs in a web browser. The player explores five dungeon floors and protects the last ember. There are four weapons and 18 upgrades, so players can try different combat styles. The dash helps the player avoid dangerous attacks. The final enemy is the Ember Warden.</a:t>
            </a:r>
          </a:p>
          <a:p xmlns:a="http://schemas.openxmlformats.org/drawingml/2006/main">
            <a:r>
              <a:t/>
            </a:r>
          </a:p>
          <a:p xmlns:a="http://schemas.openxmlformats.org/drawingml/2006/main">
            <a:r>
              <a:t>The project uses TypeScript, Phaser 3 and Vite. TypeScript supports clear code. Phaser handles the game graphics and input. Vite runs the project during development and creates the final build. Separate modules handle game rules and graphics.</a:t>
            </a:r>
          </a:p>
          <a:p xmlns:a="http://schemas.openxmlformats.org/drawingml/2006/main">
            <a:r>
              <a:t/>
            </a:r>
          </a:p>
          <a:p xmlns:a="http://schemas.openxmlformats.org/drawingml/2006/main">
            <a:r>
              <a:t>CSP means constraint satisfaction problem. It follows rules to place rooms. A seed is a starting value that can create the same dungeon again. A star finds paths around walls. FSM means finite state machine. It changes enemy actions between patrol, chase and attack. AI Laboratory shows the algorithms step by step. Web Audio creates sound and changes the music during combat.</a:t>
            </a:r>
          </a:p>
          <a:p xmlns:a="http://schemas.openxmlformats.org/drawingml/2006/main">
            <a:r>
              <a:t/>
            </a:r>
          </a:p>
          <a:p xmlns:a="http://schemas.openxmlformats.org/drawingml/2006/main">
            <a:r>
              <a:t>Project sources: README.md; DESIGN.md; src/dungeon.ts; src/ai.ts; src/simulation.ts; src/audio/score.ts; src/audio/musicState.ts.</a:t>
            </a:r>
          </a:p>
          <a:p xmlns:a="http://schemas.openxmlformats.org/drawingml/2006/main">
            <a:r>
              <a:t/>
            </a:r>
          </a:p>
          <a:p xmlns:a="http://schemas.openxmlformats.org/drawingml/2006/main">
            <a:r>
              <a:t>Image source: artifacts/expansion/living-ember-game.png. This image shows a selected development scene on floor 4. It illustrates the game and does not document a full campaign playthrough.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story follows the last keeper, who carries an ember into ruins where an ancient Heart once gave people warmth. The player clears room objectives, chooses upgrades and visits a shelter between floors. The final floor contains the Ember Warden. Four weapons support different ways to fight. The heat system creates a choice: high heat improves damage, but enemies can see the player more easily. Special attacks use this resource.</a:t>
            </a:r>
          </a:p>
          <a:p xmlns:a="http://schemas.openxmlformats.org/drawingml/2006/main">
            <a:r>
              <a:t/>
            </a:r>
          </a:p>
          <a:p xmlns:a="http://schemas.openxmlformats.org/drawingml/2006/main">
            <a:r>
              <a:t>The project separates rules from graphics. The Run class contains combat and campaign rules, so tests can execute them without a browser. Phaser handles graphics and input. DOM elements provide menus and the HUD. Vite produces a static browser build, and Web Audio synthesizes the music and effects. No AI service or API key is required.</a:t>
            </a:r>
          </a:p>
          <a:p xmlns:a="http://schemas.openxmlformats.org/drawingml/2006/main">
            <a:r>
              <a:t/>
            </a:r>
          </a:p>
          <a:p xmlns:a="http://schemas.openxmlformats.org/drawingml/2006/main">
            <a:r>
              <a:t>Project sources: README.md; EXPANSION.md; src/simulation.ts; src/main.ts; src/visuals/WorldRenderer.ts; src/audio/musicState.ts. Image: artifacts/qairu-audit/gameplay.png, ordinary run with seed qairu-audit-2026 on 25 October 2026. It documents the first floor, not a full campaign completion.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CSP means constraint satisfaction problem. Each room is a variable. Candidate positions and sizes form its possible assignments. Rooms must stay inside the map and keep a minimum distance from other rooms. A seeded random generator supplies candidates. Recursive backtracking accepts a valid candidate, continues to the next room, and undoes the choice when a branch fails. After room placement, a chain of corridors connects the rooms. A reachability check confirms the result.</a:t>
            </a:r>
          </a:p>
          <a:p xmlns:a="http://schemas.openxmlformats.org/drawingml/2006/main">
            <a:r>
              <a:t/>
            </a:r>
          </a:p>
          <a:p xmlns:a="http://schemas.openxmlformats.org/drawingml/2006/main">
            <a:r>
              <a:t>The same seed and parameters reproduce the map. The standard example shown here has eight rooms and a connected result. Tests check room separation, map bounds, repeatability and real rollback events. The solver has a budget of 6000 candidate attempts, and its recorded trace holds at most 1500 entries. If search fails, a regular fallback layout keeps the game playable. The laboratory explicitly labels fallback generation, trace truncation and the total number of attempts. Fractional inputs show an error and keep the previous map.</a:t>
            </a:r>
          </a:p>
          <a:p xmlns:a="http://schemas.openxmlformats.org/drawingml/2006/main">
            <a:r>
              <a:t/>
            </a:r>
          </a:p>
          <a:p xmlns:a="http://schemas.openxmlformats.org/drawingml/2006/main">
            <a:r>
              <a:t>Project sources: src/dungeon.ts; src/lab.ts; tests/core.test.ts; tests/trace.test.ts; tests/adventure.test.ts; QAIRU_AUDIT.md. Image: artifacts/qairu-audit/csp-default.png, cropped to the map. Standard laboratory example, seed ember-2026, size 64, count 8, separation 2.</a:t>
            </a:r>
          </a:p>
          <a:p xmlns:a="http://schemas.openxmlformats.org/drawingml/2006/main">
            <a:r>
              <a:t/>
            </a:r>
          </a:p>
          <a:p xmlns:a="http://schemas.openxmlformats.org/drawingml/2006/main">
            <a:r>
              <a:t>Concept reference: UC Berkeley CS 188, Constraint Satisfaction Problems and Solving CSPs. https://inst.eecs.berkeley.edu/~cs188/textbook/csp/csps.html and https://inst.eecs.berkeley.edu/~cs188/textbook/csp/solving.html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star finds a route across a grid. It keeps candidate nodes in a min-heap and expands the node with the smallest f score. The g score is the cost already paid. The h score estimates the remaining distance. This project uses Manhattan distance because movement follows four directions. The algorithm stores parent nodes to rebuild the final route. The laboratory lets users move the start and goal, add walls, inspect costs and step through the search.</a:t>
            </a:r>
          </a:p>
          <a:p xmlns:a="http://schemas.openxmlformats.org/drawingml/2006/main">
            <a:r>
              <a:t/>
            </a:r>
          </a:p>
          <a:p xmlns:a="http://schemas.openxmlformats.org/drawingml/2006/main">
            <a:r>
              <a:t>The displayed example needs 30 moves and closes 165 nodes. Tests verify a shortest detour, valid neighboring steps and an unreachable goal. Campaign enemies can use weighted A star to avoid dangerous cells. In a separate weighted example, BFS took 11 moves with cost 65. Dijkstra and A star each found a 13-move route with cost 13. A star visited 28 nodes in that example, compared with 105 for Dijkstra. These results describe one test map.</a:t>
            </a:r>
          </a:p>
          <a:p xmlns:a="http://schemas.openxmlformats.org/drawingml/2006/main">
            <a:r>
              <a:t/>
            </a:r>
          </a:p>
          <a:p xmlns:a="http://schemas.openxmlformats.org/drawingml/2006/main">
            <a:r>
              <a:t>Project sources: src/ai.ts; src/intelligence/search.ts; src/lab.ts; tests/core.test.ts; tests/intelligence.test.ts; artifacts/qairu-audit/metrics.json. Image: artifacts/qairu-audit/astar.png, cropped to the search grid.</a:t>
            </a:r>
          </a:p>
          <a:p xmlns:a="http://schemas.openxmlformats.org/drawingml/2006/main">
            <a:r>
              <a:t/>
            </a:r>
          </a:p>
          <a:p xmlns:a="http://schemas.openxmlformats.org/drawingml/2006/main">
            <a:r>
              <a:t>Concept reference: UC Berkeley CS 188, Informed Search. https://inst.eecs.berkeley.edu/~cs188/textbook/search/informed.html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intelligent agent senses its environment and chooses an action. Our enemy observes player distance, direction and visible walls. A finite state machine, or FSM, controls patrol, alert, chase, attack and search. The alert state gives a short reaction time. When the player disappears, the enemy remembers the last position and searches before returning to patrol. A star supplies routes around walls.</a:t>
            </a:r>
          </a:p>
          <a:p xmlns:a="http://schemas.openxmlformats.org/drawingml/2006/main">
            <a:r>
              <a:t/>
            </a:r>
          </a:p>
          <a:p xmlns:a="http://schemas.openxmlformats.org/drawingml/2006/main">
            <a:r>
              <a:t>The screenshot shows the actual laboratory after a click moves the player into view. The agent reaches ATTACK and reports true detection. Lab attacks are harmless so the user can study behavior. The campaign adds damage, cooldowns and more tactical decisions. Tests check wall occlusion and the full sequence of state changes. These agents use explicit rules rather than a neural network. Utility scores, a small action planner and a probability map add tactical choices in the campaign.</a:t>
            </a:r>
          </a:p>
          <a:p xmlns:a="http://schemas.openxmlformats.org/drawingml/2006/main">
            <a:r>
              <a:t/>
            </a:r>
          </a:p>
          <a:p xmlns:a="http://schemas.openxmlformats.org/drawingml/2006/main">
            <a:r>
              <a:t>Project sources: src/ai.ts; src/simulation.ts; src/intelligence/EnemyMind.ts; tests/core.test.ts; tests/adventure.test.ts. Image: artifacts/qairu-audit/agent-detected.png, cropped to the perception grid.</a:t>
            </a:r>
          </a:p>
          <a:p xmlns:a="http://schemas.openxmlformats.org/drawingml/2006/main">
            <a:r>
              <a:t/>
            </a:r>
          </a:p>
          <a:p xmlns:a="http://schemas.openxmlformats.org/drawingml/2006/main">
            <a:r>
              <a:t>Concept reference: UC Berkeley CS 188, Agents. https://inst.eecs.berkeley.edu/~cs188/textbook/search/agents.html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also includes algorithms from other course weeks. Minimax evaluates possible moves in a rune duel. Alpha-beta pruning removes branches that cannot change the answer. On an empty board, pruning used 34,202 nodes instead of 549,945 while preserving the best move and value. Q-learning starts with a zero Q-table. The learner explores actions and updates values from rewards. After 1000 episodes in this fixed educational arena, its greedy policy reached the goal. The last 50 training episodes had a 98 percent success rate. This is a training result on one map, not a separate generalization test. Campaign enemies do not use this learner.</a:t>
            </a:r>
          </a:p>
          <a:p xmlns:a="http://schemas.openxmlformats.org/drawingml/2006/main">
            <a:r>
              <a:t/>
            </a:r>
          </a:p>
          <a:p xmlns:a="http://schemas.openxmlformats.org/drawingml/2006/main">
            <a:r>
              <a:t>The probability module is a discrete Bayesian filter. It predicts movement, weights observations and normalizes the probabilities. It is not a full Bayesian network with conditional probability tables. Other laboratory views show utility choices, action planning, a boss behavior tree, genetic encounters and search comparisons. The main defense can still focus on weeks one, two and three.</a:t>
            </a:r>
          </a:p>
          <a:p xmlns:a="http://schemas.openxmlformats.org/drawingml/2006/main">
            <a:r>
              <a:t/>
            </a:r>
          </a:p>
          <a:p xmlns:a="http://schemas.openxmlformats.org/drawingml/2006/main">
            <a:r>
              <a:t>Project sources: src/intelligence/minimax.ts; src/intelligence/learning.ts; src/intelligence/belief.ts; src/intelligence/AdvancedLab.ts; tests/intelligence.test.ts; artifacts/qairu-audit/metrics.json. Image: artifacts/qairu-audit/q-learning.png, cropped to the learned policy and reward plot.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test suite now passes all 50 tests, including 100 basic and 50 expanded seeded map configurations. TypeScript checking and the production build pass. Three audit issues are fixed: mouse input in the prologue, whole-number validation for room parameters, and explicit labels for fallback generation and truncated search traces. Browser checks confirm these behaviors.</a:t>
            </a:r>
          </a:p>
          <a:p xmlns:a="http://schemas.openxmlformats.org/drawingml/2006/main">
            <a:r>
              <a:t/>
            </a:r>
          </a:p>
          <a:p xmlns:a="http://schemas.openxmlformats.org/drawingml/2006/main">
            <a:r>
              <a:t>A separate automated simulation driver completed all five floors with seed qairu-final-2026. It defeated 98 enemies and completed 20 mandatory objectives in 391.8 simulated seconds. It uses normal movement, attacks, healing, upgrades and shelter actions. It does not remove enemies, complete objectives artificially, teleport or boost statistics. The driver can inspect the full state and does not run the browser renderer. This is a reproducible integration experiment, not a human playthrough.</a:t>
            </a:r>
          </a:p>
          <a:p xmlns:a="http://schemas.openxmlformats.org/drawingml/2006/main">
            <a:r>
              <a:t/>
            </a:r>
          </a:p>
          <a:p xmlns:a="http://schemas.openxmlformats.org/drawingml/2006/main">
            <a:r>
              <a:t>The submission includes a technical report, an approximately two-and-a-half-minute video, the AI usage declaration and the individual contribution statement for Bekzat Zhailkhan. The student should review the declarations and rehearse the algorithms independently. GitHub publication must be confirmed separately by an actual repository URL. Future features remain proposals.</a:t>
            </a:r>
          </a:p>
          <a:p xmlns:a="http://schemas.openxmlformats.org/drawingml/2006/main">
            <a:r>
              <a:t/>
            </a:r>
          </a:p>
          <a:p xmlns:a="http://schemas.openxmlformats.org/drawingml/2006/main">
            <a:r>
              <a:t>Project sources: VERIFICATION.md; docs/Technical_Report.md; docs/results/tests.txt; docs/results/campaign.json; src/story/prologue.css; src/dungeon.ts; src/lab.ts; ROADMAP.md.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9533e90b934492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87970548a7f40f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48457c9d00a4e4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27387ccc35b4e2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fed631b692a46a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a28865ef9e7411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4405630-6A7E-4670-BC62-983F1457E95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71D0E3B-F217-43BD-B66F-4B8C48C46DA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FFE13C9-7762-413A-9956-D79C1D6AA65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F19CCEE-54B3-401D-994B-ACC5BFE28CC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E90F0A8-E7EB-4C00-A718-13550BD8060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2EFF06B-5491-43B1-A1C7-B5680D1DBEF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24A17C9-DCC8-4927-9B15-F8F82258F21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B0FB0E1-28EC-4F1B-922E-4F19B54AB33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1E9E77C-A1AB-4CFE-9ACA-DC42B71984D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F2234E7-5118-491D-826E-9399C62D59A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c682a943b164f8d" /><Relationship Type="http://schemas.openxmlformats.org/officeDocument/2006/relationships/slideLayout" Target="/ppt/slideLayouts/slideLayout1.xml" Id="Rae47fd9ff73d4258" /><Relationship Type="http://schemas.openxmlformats.org/officeDocument/2006/relationships/slideLayout" Target="/ppt/slideLayouts/slideLayout2.xml" Id="R06188660c43f4c77" /><Relationship Type="http://schemas.openxmlformats.org/officeDocument/2006/relationships/slideLayout" Target="/ppt/slideLayouts/slideLayout3.xml" Id="R5c070a50bdf5490e" /><Relationship Type="http://schemas.openxmlformats.org/officeDocument/2006/relationships/slideLayout" Target="/ppt/slideLayouts/slideLayout4.xml" Id="Rdc714ff2f41d4c25" /><Relationship Type="http://schemas.openxmlformats.org/officeDocument/2006/relationships/slideLayout" Target="/ppt/slideLayouts/slideLayout5.xml" Id="R2922b8fc499e40ae" /><Relationship Type="http://schemas.openxmlformats.org/officeDocument/2006/relationships/slideLayout" Target="/ppt/slideLayouts/slideLayout6.xml" Id="R7366d8905a5d422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e47fd9ff73d4258"/>
    <p:sldLayoutId xmlns:r="http://schemas.openxmlformats.org/officeDocument/2006/relationships" id="2147483650" r:id="R06188660c43f4c77"/>
    <p:sldLayoutId xmlns:r="http://schemas.openxmlformats.org/officeDocument/2006/relationships" id="2147483651" r:id="R5c070a50bdf5490e"/>
    <p:sldLayoutId xmlns:r="http://schemas.openxmlformats.org/officeDocument/2006/relationships" id="2147483652" r:id="Rdc714ff2f41d4c25"/>
    <p:sldLayoutId xmlns:r="http://schemas.openxmlformats.org/officeDocument/2006/relationships" id="2147483653" r:id="R2922b8fc499e40ae"/>
    <p:sldLayoutId xmlns:r="http://schemas.openxmlformats.org/officeDocument/2006/relationships" id="2147483654" r:id="R7366d8905a5d422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04ee88b80444d51" /><Relationship Type="http://schemas.openxmlformats.org/officeDocument/2006/relationships/image" Target="/ppt/media/image.jpeg" Id="Ra0d1f72c6eed4957" /><Relationship Type="http://schemas.openxmlformats.org/officeDocument/2006/relationships/notesSlide" Target="/ppt/notesSlides/notesSlide1.xml" Id="Recc0f14910c14b3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d9849581b52458d" /><Relationship Type="http://schemas.openxmlformats.org/officeDocument/2006/relationships/image" Target="/ppt/media/image2.jpeg" Id="R2b50a711df614b3f" /><Relationship Type="http://schemas.openxmlformats.org/officeDocument/2006/relationships/notesSlide" Target="/ppt/notesSlides/notesSlide2.xml" Id="R12f02179185c44f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efff0da8ef94124" /><Relationship Type="http://schemas.openxmlformats.org/officeDocument/2006/relationships/image" Target="/ppt/media/image3.jpeg" Id="R62ec6f6de8484b73" /><Relationship Type="http://schemas.openxmlformats.org/officeDocument/2006/relationships/notesSlide" Target="/ppt/notesSlides/notesSlide3.xml" Id="R5b79d0e640194b7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873bb5bbcbb4514" /><Relationship Type="http://schemas.openxmlformats.org/officeDocument/2006/relationships/image" Target="/ppt/media/image4.jpeg" Id="R4510a4aca1944957" /><Relationship Type="http://schemas.openxmlformats.org/officeDocument/2006/relationships/notesSlide" Target="/ppt/notesSlides/notesSlide4.xml" Id="Re4a6032905ae48c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08c5ee23a524352" /><Relationship Type="http://schemas.openxmlformats.org/officeDocument/2006/relationships/image" Target="/ppt/media/image5.jpeg" Id="R0cb14d67ea7d4af3" /><Relationship Type="http://schemas.openxmlformats.org/officeDocument/2006/relationships/notesSlide" Target="/ppt/notesSlides/notesSlide5.xml" Id="R441eccb54b78482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5aacdbf886e4d97" /><Relationship Type="http://schemas.openxmlformats.org/officeDocument/2006/relationships/image" Target="/ppt/media/image6.jpeg" Id="R6394e5326c7740b9" /><Relationship Type="http://schemas.openxmlformats.org/officeDocument/2006/relationships/notesSlide" Target="/ppt/notesSlides/notesSlide6.xml" Id="R10149732a22046c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667d19dffc14959" /><Relationship Type="http://schemas.openxmlformats.org/officeDocument/2006/relationships/notesSlide" Target="/ppt/notesSlides/notesSlide7.xml" Id="Rb32bc23ddb1b43e2" /></Relationships>
</file>

<file path=ppt/slides/slide1.xml><?xml version="1.0" encoding="utf-8"?>
<p:sld xmlns:p="http://schemas.openxmlformats.org/presentationml/2006/main">
  <p:cSld>
    <p:bg>
      <p:bgPr>
        <a:solidFill xmlns:a="http://schemas.openxmlformats.org/drawingml/2006/main">
          <a:srgbClr val="0B0D12"/>
        </a:solidFill>
      </p:bgPr>
    </p:bg>
    <p:spTree>
      <p:nvGrpSpPr>
        <p:cNvPr id="1" name=""/>
        <p:cNvGrpSpPr/>
        <p:nvPr/>
      </p:nvGrpSpPr>
      <p:grpSpPr>
        <a:xfrm xmlns:a="http://schemas.openxmlformats.org/drawingml/2006/main"/>
      </p:grpSpPr>
      <p:sp>
        <p:nvSpPr>
          <p:cNvPr id="2" name="Game title">
            <a:extLst xmlns:a="http://schemas.openxmlformats.org/drawingml/2006/main">
              <a:ext uri="{FF2B5EF4-FFF2-40B4-BE49-F238E27FC236}">
                <a16:creationId xmlns:a16="http://schemas.microsoft.com/office/drawing/2014/main" id="{F95D8718-9F79-481B-B513-B71B75DD48DD}"/>
              </a:ext>
            </a:extLst>
          </p:cNvPr>
          <p:cNvSpPr>
            <a:spLocks xmlns:a="http://schemas.openxmlformats.org/drawingml/2006/main" noGrp="1"/>
          </p:cNvSpPr>
          <p:nvPr/>
        </p:nvSpPr>
        <p:spPr>
          <a:xfrm xmlns:a="http://schemas.openxmlformats.org/drawingml/2006/main">
            <a:off x="609600" y="457200"/>
            <a:ext cx="523875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700" b="1">
                <a:solidFill>
                  <a:srgbClr val="F0E2CA"/>
                </a:solidFill>
              </a:defRPr>
            </a:defPPr>
            <a:lvl1pPr algn="l">
              <a:defRPr sz="5700" b="1">
                <a:solidFill>
                  <a:srgbClr val="F0E2CA"/>
                </a:solidFill>
              </a:defRPr>
            </a:lvl1pPr>
            <a:lvl2pPr algn="l">
              <a:defRPr sz="5700" b="1">
                <a:solidFill>
                  <a:srgbClr val="F0E2CA"/>
                </a:solidFill>
              </a:defRPr>
            </a:lvl2pPr>
            <a:lvl3pPr algn="l">
              <a:defRPr sz="5700" b="1">
                <a:solidFill>
                  <a:srgbClr val="F0E2CA"/>
                </a:solidFill>
              </a:defRPr>
            </a:lvl3pPr>
            <a:lvl4pPr algn="l">
              <a:defRPr sz="5700" b="1">
                <a:solidFill>
                  <a:srgbClr val="F0E2CA"/>
                </a:solidFill>
              </a:defRPr>
            </a:lvl4pPr>
            <a:lvl5pPr algn="l">
              <a:defRPr sz="5700" b="1">
                <a:solidFill>
                  <a:srgbClr val="F0E2CA"/>
                </a:solidFill>
              </a:defRPr>
            </a:lvl5pPr>
            <a:lvl6pPr algn="l">
              <a:defRPr sz="5700" b="1">
                <a:solidFill>
                  <a:srgbClr val="F0E2CA"/>
                </a:solidFill>
              </a:defRPr>
            </a:lvl6pPr>
            <a:lvl7pPr algn="l">
              <a:defRPr sz="5700" b="1">
                <a:solidFill>
                  <a:srgbClr val="F0E2CA"/>
                </a:solidFill>
              </a:defRPr>
            </a:lvl7pPr>
            <a:lvl8pPr algn="l">
              <a:defRPr sz="5700" b="1">
                <a:solidFill>
                  <a:srgbClr val="F0E2CA"/>
                </a:solidFill>
              </a:defRPr>
            </a:lvl8pPr>
            <a:lvl9pPr algn="l">
              <a:defRPr sz="5700" b="1">
                <a:solidFill>
                  <a:srgbClr val="F0E2CA"/>
                </a:solidFill>
              </a:defRPr>
            </a:lvl9pPr>
          </a:lstStyle>
          <a:p xmlns:a="http://schemas.openxmlformats.org/drawingml/2006/main">
            <a:pPr algn="l">
              <a:defRPr sz="5700" b="1">
                <a:solidFill>
                  <a:srgbClr val="F0E2CA"/>
                </a:solidFill>
              </a:defRPr>
            </a:pPr>
            <a:r>
              <a:rPr sz="5700" b="1">
                <a:solidFill>
                  <a:srgbClr val="F0E2CA"/>
                </a:solidFill>
              </a:rPr>
              <a:t>BELOW</a:t>
            </a:r>
          </a:p>
          <a:p xmlns:a="http://schemas.openxmlformats.org/drawingml/2006/main">
            <a:pPr algn="l">
              <a:defRPr sz="5700" b="1">
                <a:solidFill>
                  <a:srgbClr val="F0E2CA"/>
                </a:solidFill>
              </a:defRPr>
            </a:pPr>
            <a:r>
              <a:rPr sz="5700" b="1">
                <a:solidFill>
                  <a:srgbClr val="F0E2CA"/>
                </a:solidFill>
              </a:rPr>
              <a:t>THE EMBER</a:t>
            </a:r>
          </a:p>
        </p:txBody>
      </p:sp>
      <p:sp>
        <p:nvSpPr>
          <p:cNvPr id="3" name="Genre">
            <a:extLst xmlns:a="http://schemas.openxmlformats.org/drawingml/2006/main">
              <a:ext uri="{FF2B5EF4-FFF2-40B4-BE49-F238E27FC236}">
                <a16:creationId xmlns:a16="http://schemas.microsoft.com/office/drawing/2014/main" id="{5B355890-F37A-40A0-A6A2-3426DA53FF85}"/>
              </a:ext>
            </a:extLst>
          </p:cNvPr>
          <p:cNvSpPr>
            <a:spLocks xmlns:a="http://schemas.openxmlformats.org/drawingml/2006/main" noGrp="1"/>
          </p:cNvSpPr>
          <p:nvPr/>
        </p:nvSpPr>
        <p:spPr>
          <a:xfrm xmlns:a="http://schemas.openxmlformats.org/drawingml/2006/main">
            <a:off x="609600" y="2276475"/>
            <a:ext cx="527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950" b="0">
                <a:solidFill>
                  <a:srgbClr val="FFC16A"/>
                </a:solidFill>
              </a:defRPr>
            </a:defPPr>
            <a:lvl1pPr algn="l">
              <a:defRPr sz="1950" b="0">
                <a:solidFill>
                  <a:srgbClr val="FFC16A"/>
                </a:solidFill>
              </a:defRPr>
            </a:lvl1pPr>
            <a:lvl2pPr algn="l">
              <a:defRPr sz="1950" b="0">
                <a:solidFill>
                  <a:srgbClr val="FFC16A"/>
                </a:solidFill>
              </a:defRPr>
            </a:lvl2pPr>
            <a:lvl3pPr algn="l">
              <a:defRPr sz="1950" b="0">
                <a:solidFill>
                  <a:srgbClr val="FFC16A"/>
                </a:solidFill>
              </a:defRPr>
            </a:lvl3pPr>
            <a:lvl4pPr algn="l">
              <a:defRPr sz="1950" b="0">
                <a:solidFill>
                  <a:srgbClr val="FFC16A"/>
                </a:solidFill>
              </a:defRPr>
            </a:lvl4pPr>
            <a:lvl5pPr algn="l">
              <a:defRPr sz="1950" b="0">
                <a:solidFill>
                  <a:srgbClr val="FFC16A"/>
                </a:solidFill>
              </a:defRPr>
            </a:lvl5pPr>
            <a:lvl6pPr algn="l">
              <a:defRPr sz="1950" b="0">
                <a:solidFill>
                  <a:srgbClr val="FFC16A"/>
                </a:solidFill>
              </a:defRPr>
            </a:lvl6pPr>
            <a:lvl7pPr algn="l">
              <a:defRPr sz="1950" b="0">
                <a:solidFill>
                  <a:srgbClr val="FFC16A"/>
                </a:solidFill>
              </a:defRPr>
            </a:lvl7pPr>
            <a:lvl8pPr algn="l">
              <a:defRPr sz="1950" b="0">
                <a:solidFill>
                  <a:srgbClr val="FFC16A"/>
                </a:solidFill>
              </a:defRPr>
            </a:lvl8pPr>
            <a:lvl9pPr algn="l">
              <a:defRPr sz="1950" b="0">
                <a:solidFill>
                  <a:srgbClr val="FFC16A"/>
                </a:solidFill>
              </a:defRPr>
            </a:lvl9pPr>
          </a:lstStyle>
          <a:p xmlns:a="http://schemas.openxmlformats.org/drawingml/2006/main">
            <a:pPr algn="l">
              <a:defRPr sz="1950" b="0">
                <a:solidFill>
                  <a:srgbClr val="FFC16A"/>
                </a:solidFill>
              </a:defRPr>
            </a:pPr>
            <a:r>
              <a:rPr sz="1950" b="0">
                <a:solidFill>
                  <a:srgbClr val="FFC16A"/>
                </a:solidFill>
              </a:rPr>
              <a:t>A 2D action game for the browser</a:t>
            </a:r>
          </a:p>
        </p:txBody>
      </p:sp>
      <p:sp>
        <p:nvSpPr>
          <p:cNvPr id="4" name="Game goal">
            <a:extLst xmlns:a="http://schemas.openxmlformats.org/drawingml/2006/main">
              <a:ext uri="{FF2B5EF4-FFF2-40B4-BE49-F238E27FC236}">
                <a16:creationId xmlns:a16="http://schemas.microsoft.com/office/drawing/2014/main" id="{CE5ACE8B-91F5-4D78-8FBB-4CA0FB0038C5}"/>
              </a:ext>
            </a:extLst>
          </p:cNvPr>
          <p:cNvSpPr>
            <a:spLocks xmlns:a="http://schemas.openxmlformats.org/drawingml/2006/main" noGrp="1"/>
          </p:cNvSpPr>
          <p:nvPr/>
        </p:nvSpPr>
        <p:spPr>
          <a:xfrm xmlns:a="http://schemas.openxmlformats.org/drawingml/2006/main">
            <a:off x="609600" y="2886075"/>
            <a:ext cx="52768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E4E3DF"/>
                </a:solidFill>
              </a:defRPr>
            </a:defPPr>
            <a:lvl1pPr algn="l">
              <a:defRPr sz="1800" b="0">
                <a:solidFill>
                  <a:srgbClr val="E4E3DF"/>
                </a:solidFill>
              </a:defRPr>
            </a:lvl1pPr>
            <a:lvl2pPr algn="l">
              <a:defRPr sz="1800" b="0">
                <a:solidFill>
                  <a:srgbClr val="E4E3DF"/>
                </a:solidFill>
              </a:defRPr>
            </a:lvl2pPr>
            <a:lvl3pPr algn="l">
              <a:defRPr sz="1800" b="0">
                <a:solidFill>
                  <a:srgbClr val="E4E3DF"/>
                </a:solidFill>
              </a:defRPr>
            </a:lvl3pPr>
            <a:lvl4pPr algn="l">
              <a:defRPr sz="1800" b="0">
                <a:solidFill>
                  <a:srgbClr val="E4E3DF"/>
                </a:solidFill>
              </a:defRPr>
            </a:lvl4pPr>
            <a:lvl5pPr algn="l">
              <a:defRPr sz="1800" b="0">
                <a:solidFill>
                  <a:srgbClr val="E4E3DF"/>
                </a:solidFill>
              </a:defRPr>
            </a:lvl5pPr>
            <a:lvl6pPr algn="l">
              <a:defRPr sz="1800" b="0">
                <a:solidFill>
                  <a:srgbClr val="E4E3DF"/>
                </a:solidFill>
              </a:defRPr>
            </a:lvl6pPr>
            <a:lvl7pPr algn="l">
              <a:defRPr sz="1800" b="0">
                <a:solidFill>
                  <a:srgbClr val="E4E3DF"/>
                </a:solidFill>
              </a:defRPr>
            </a:lvl7pPr>
            <a:lvl8pPr algn="l">
              <a:defRPr sz="1800" b="0">
                <a:solidFill>
                  <a:srgbClr val="E4E3DF"/>
                </a:solidFill>
              </a:defRPr>
            </a:lvl8pPr>
            <a:lvl9pPr algn="l">
              <a:defRPr sz="1800" b="0">
                <a:solidFill>
                  <a:srgbClr val="E4E3DF"/>
                </a:solidFill>
              </a:defRPr>
            </a:lvl9pPr>
          </a:lstStyle>
          <a:p xmlns:a="http://schemas.openxmlformats.org/drawingml/2006/main">
            <a:pPr algn="l">
              <a:defRPr sz="1800" b="0">
                <a:solidFill>
                  <a:srgbClr val="E4E3DF"/>
                </a:solidFill>
              </a:defRPr>
            </a:pPr>
            <a:r>
              <a:rPr sz="1800" b="0">
                <a:solidFill>
                  <a:srgbClr val="E4E3DF"/>
                </a:solidFill>
              </a:rPr>
              <a:t>Explore five floors and protect the last ember.</a:t>
            </a:r>
          </a:p>
          <a:p xmlns:a="http://schemas.openxmlformats.org/drawingml/2006/main">
            <a:pPr algn="l">
              <a:defRPr sz="1800" b="0">
                <a:solidFill>
                  <a:srgbClr val="E4E3DF"/>
                </a:solidFill>
              </a:defRPr>
            </a:pPr>
            <a:r>
              <a:rPr sz="1800" b="0">
                <a:solidFill>
                  <a:srgbClr val="E4E3DF"/>
                </a:solidFill>
              </a:rPr>
              <a:t>Fight enemies and face the Ember Warden.</a:t>
            </a:r>
          </a:p>
        </p:txBody>
      </p:sp>
      <p:sp>
        <p:nvSpPr>
          <p:cNvPr id="5" name="Combat features">
            <a:extLst xmlns:a="http://schemas.openxmlformats.org/drawingml/2006/main">
              <a:ext uri="{FF2B5EF4-FFF2-40B4-BE49-F238E27FC236}">
                <a16:creationId xmlns:a16="http://schemas.microsoft.com/office/drawing/2014/main" id="{A424795A-A1B0-4724-AC36-8FA237D00529}"/>
              </a:ext>
            </a:extLst>
          </p:cNvPr>
          <p:cNvSpPr>
            <a:spLocks xmlns:a="http://schemas.openxmlformats.org/drawingml/2006/main" noGrp="1"/>
          </p:cNvSpPr>
          <p:nvPr/>
        </p:nvSpPr>
        <p:spPr>
          <a:xfrm xmlns:a="http://schemas.openxmlformats.org/drawingml/2006/main">
            <a:off x="609600" y="4000500"/>
            <a:ext cx="52768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B6C3CD"/>
                </a:solidFill>
              </a:defRPr>
            </a:defPPr>
            <a:lvl1pPr algn="l">
              <a:defRPr sz="1800" b="0">
                <a:solidFill>
                  <a:srgbClr val="B6C3CD"/>
                </a:solidFill>
              </a:defRPr>
            </a:lvl1pPr>
            <a:lvl2pPr algn="l">
              <a:defRPr sz="1800" b="0">
                <a:solidFill>
                  <a:srgbClr val="B6C3CD"/>
                </a:solidFill>
              </a:defRPr>
            </a:lvl2pPr>
            <a:lvl3pPr algn="l">
              <a:defRPr sz="1800" b="0">
                <a:solidFill>
                  <a:srgbClr val="B6C3CD"/>
                </a:solidFill>
              </a:defRPr>
            </a:lvl3pPr>
            <a:lvl4pPr algn="l">
              <a:defRPr sz="1800" b="0">
                <a:solidFill>
                  <a:srgbClr val="B6C3CD"/>
                </a:solidFill>
              </a:defRPr>
            </a:lvl4pPr>
            <a:lvl5pPr algn="l">
              <a:defRPr sz="1800" b="0">
                <a:solidFill>
                  <a:srgbClr val="B6C3CD"/>
                </a:solidFill>
              </a:defRPr>
            </a:lvl5pPr>
            <a:lvl6pPr algn="l">
              <a:defRPr sz="1800" b="0">
                <a:solidFill>
                  <a:srgbClr val="B6C3CD"/>
                </a:solidFill>
              </a:defRPr>
            </a:lvl6pPr>
            <a:lvl7pPr algn="l">
              <a:defRPr sz="1800" b="0">
                <a:solidFill>
                  <a:srgbClr val="B6C3CD"/>
                </a:solidFill>
              </a:defRPr>
            </a:lvl7pPr>
            <a:lvl8pPr algn="l">
              <a:defRPr sz="1800" b="0">
                <a:solidFill>
                  <a:srgbClr val="B6C3CD"/>
                </a:solidFill>
              </a:defRPr>
            </a:lvl8pPr>
            <a:lvl9pPr algn="l">
              <a:defRPr sz="1800" b="0">
                <a:solidFill>
                  <a:srgbClr val="B6C3CD"/>
                </a:solidFill>
              </a:defRPr>
            </a:lvl9pPr>
          </a:lstStyle>
          <a:p xmlns:a="http://schemas.openxmlformats.org/drawingml/2006/main">
            <a:pPr algn="l">
              <a:defRPr sz="1800" b="0">
                <a:solidFill>
                  <a:srgbClr val="B6C3CD"/>
                </a:solidFill>
              </a:defRPr>
            </a:pPr>
            <a:r>
              <a:rPr sz="1800" b="0">
                <a:solidFill>
                  <a:srgbClr val="B6C3CD"/>
                </a:solidFill>
              </a:rPr>
              <a:t>Choose from four weapons and 18 upgrades.</a:t>
            </a:r>
          </a:p>
          <a:p xmlns:a="http://schemas.openxmlformats.org/drawingml/2006/main">
            <a:pPr algn="l">
              <a:defRPr sz="1800" b="0">
                <a:solidFill>
                  <a:srgbClr val="B6C3CD"/>
                </a:solidFill>
              </a:defRPr>
            </a:pPr>
            <a:r>
              <a:rPr sz="1800" b="0">
                <a:solidFill>
                  <a:srgbClr val="B6C3CD"/>
                </a:solidFill>
              </a:rPr>
              <a:t>The dash helps you avoid attacks.</a:t>
            </a:r>
          </a:p>
        </p:txBody>
      </p:sp>
      <p:pic>
        <p:nvPicPr>
          <p:cNvPr id="6" name="">
            <a:extLst xmlns:a="http://schemas.openxmlformats.org/drawingml/2006/main">
              <a:ext uri="{FF2B5EF4-FFF2-40B4-BE49-F238E27FC236}">
                <a16:creationId xmlns:a16="http://schemas.microsoft.com/office/drawing/2014/main" id="{976431A0-BE37-4E71-8386-FF7E3CCF38F6}"/>
              </a:ext>
            </a:extLst>
          </p:cNvPr>
          <p:cNvPicPr>
            <a:picLocks xmlns:a="http://schemas.openxmlformats.org/drawingml/2006/main" noChangeAspect="1"/>
          </p:cNvPicPr>
          <p:nvPr/>
        </p:nvPicPr>
        <p:blipFill>
          <a:blip xmlns:r="http://schemas.openxmlformats.org/officeDocument/2006/relationships" xmlns:a="http://schemas.openxmlformats.org/drawingml/2006/main" r:embed="Ra0d1f72c6eed4957"/>
          <a:stretch xmlns:a="http://schemas.openxmlformats.org/drawingml/2006/main"/>
        </p:blipFill>
        <p:spPr>
          <a:xfrm xmlns:a="http://schemas.openxmlformats.org/drawingml/2006/main">
            <a:off x="6381750" y="609600"/>
            <a:ext cx="5200650" cy="2925366"/>
          </a:xfrm>
          <a:prstGeom xmlns:a="http://schemas.openxmlformats.org/drawingml/2006/main" prst="rect">
            <a:avLst/>
          </a:prstGeom>
        </p:spPr>
      </p:pic>
      <p:sp>
        <p:nvSpPr>
          <p:cNvPr id="7" name="Image caption">
            <a:extLst xmlns:a="http://schemas.openxmlformats.org/drawingml/2006/main">
              <a:ext uri="{FF2B5EF4-FFF2-40B4-BE49-F238E27FC236}">
                <a16:creationId xmlns:a16="http://schemas.microsoft.com/office/drawing/2014/main" id="{C16909E4-357A-4A82-80F0-57EAB63E410C}"/>
              </a:ext>
            </a:extLst>
          </p:cNvPr>
          <p:cNvSpPr>
            <a:spLocks xmlns:a="http://schemas.openxmlformats.org/drawingml/2006/main" noGrp="1"/>
          </p:cNvSpPr>
          <p:nvPr/>
        </p:nvSpPr>
        <p:spPr>
          <a:xfrm xmlns:a="http://schemas.openxmlformats.org/drawingml/2006/main">
            <a:off x="6381750" y="3686175"/>
            <a:ext cx="5200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0">
                <a:solidFill>
                  <a:srgbClr val="9EAAB4"/>
                </a:solidFill>
              </a:defRPr>
            </a:defPPr>
            <a:lvl1pPr algn="l">
              <a:defRPr sz="1725" b="0">
                <a:solidFill>
                  <a:srgbClr val="9EAAB4"/>
                </a:solidFill>
              </a:defRPr>
            </a:lvl1pPr>
            <a:lvl2pPr algn="l">
              <a:defRPr sz="1725" b="0">
                <a:solidFill>
                  <a:srgbClr val="9EAAB4"/>
                </a:solidFill>
              </a:defRPr>
            </a:lvl2pPr>
            <a:lvl3pPr algn="l">
              <a:defRPr sz="1725" b="0">
                <a:solidFill>
                  <a:srgbClr val="9EAAB4"/>
                </a:solidFill>
              </a:defRPr>
            </a:lvl3pPr>
            <a:lvl4pPr algn="l">
              <a:defRPr sz="1725" b="0">
                <a:solidFill>
                  <a:srgbClr val="9EAAB4"/>
                </a:solidFill>
              </a:defRPr>
            </a:lvl4pPr>
            <a:lvl5pPr algn="l">
              <a:defRPr sz="1725" b="0">
                <a:solidFill>
                  <a:srgbClr val="9EAAB4"/>
                </a:solidFill>
              </a:defRPr>
            </a:lvl5pPr>
            <a:lvl6pPr algn="l">
              <a:defRPr sz="1725" b="0">
                <a:solidFill>
                  <a:srgbClr val="9EAAB4"/>
                </a:solidFill>
              </a:defRPr>
            </a:lvl6pPr>
            <a:lvl7pPr algn="l">
              <a:defRPr sz="1725" b="0">
                <a:solidFill>
                  <a:srgbClr val="9EAAB4"/>
                </a:solidFill>
              </a:defRPr>
            </a:lvl7pPr>
            <a:lvl8pPr algn="l">
              <a:defRPr sz="1725" b="0">
                <a:solidFill>
                  <a:srgbClr val="9EAAB4"/>
                </a:solidFill>
              </a:defRPr>
            </a:lvl8pPr>
            <a:lvl9pPr algn="l">
              <a:defRPr sz="1725" b="0">
                <a:solidFill>
                  <a:srgbClr val="9EAAB4"/>
                </a:solidFill>
              </a:defRPr>
            </a:lvl9pPr>
          </a:lstStyle>
          <a:p xmlns:a="http://schemas.openxmlformats.org/drawingml/2006/main">
            <a:pPr algn="l">
              <a:defRPr sz="1725" b="0">
                <a:solidFill>
                  <a:srgbClr val="9EAAB4"/>
                </a:solidFill>
              </a:defRPr>
            </a:pPr>
            <a:r>
              <a:rPr sz="1725" b="0">
                <a:solidFill>
                  <a:srgbClr val="9EAAB4"/>
                </a:solidFill>
              </a:rPr>
              <a:t>Game view: the Burning Catacombs</a:t>
            </a:r>
          </a:p>
        </p:txBody>
      </p:sp>
      <p:sp>
        <p:nvSpPr>
          <p:cNvPr id="8" name="AI Laboratory title">
            <a:extLst xmlns:a="http://schemas.openxmlformats.org/drawingml/2006/main">
              <a:ext uri="{FF2B5EF4-FFF2-40B4-BE49-F238E27FC236}">
                <a16:creationId xmlns:a16="http://schemas.microsoft.com/office/drawing/2014/main" id="{8EDE55A8-9B41-4C82-850B-466DC20B1BEA}"/>
              </a:ext>
            </a:extLst>
          </p:cNvPr>
          <p:cNvSpPr>
            <a:spLocks xmlns:a="http://schemas.openxmlformats.org/drawingml/2006/main" noGrp="1"/>
          </p:cNvSpPr>
          <p:nvPr/>
        </p:nvSpPr>
        <p:spPr>
          <a:xfrm xmlns:a="http://schemas.openxmlformats.org/drawingml/2006/main">
            <a:off x="6381750" y="4114800"/>
            <a:ext cx="52006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950" b="1">
                <a:solidFill>
                  <a:srgbClr val="FFC16A"/>
                </a:solidFill>
              </a:defRPr>
            </a:defPPr>
            <a:lvl1pPr algn="l">
              <a:defRPr sz="1950" b="1">
                <a:solidFill>
                  <a:srgbClr val="FFC16A"/>
                </a:solidFill>
              </a:defRPr>
            </a:lvl1pPr>
            <a:lvl2pPr algn="l">
              <a:defRPr sz="1950" b="1">
                <a:solidFill>
                  <a:srgbClr val="FFC16A"/>
                </a:solidFill>
              </a:defRPr>
            </a:lvl2pPr>
            <a:lvl3pPr algn="l">
              <a:defRPr sz="1950" b="1">
                <a:solidFill>
                  <a:srgbClr val="FFC16A"/>
                </a:solidFill>
              </a:defRPr>
            </a:lvl3pPr>
            <a:lvl4pPr algn="l">
              <a:defRPr sz="1950" b="1">
                <a:solidFill>
                  <a:srgbClr val="FFC16A"/>
                </a:solidFill>
              </a:defRPr>
            </a:lvl4pPr>
            <a:lvl5pPr algn="l">
              <a:defRPr sz="1950" b="1">
                <a:solidFill>
                  <a:srgbClr val="FFC16A"/>
                </a:solidFill>
              </a:defRPr>
            </a:lvl5pPr>
            <a:lvl6pPr algn="l">
              <a:defRPr sz="1950" b="1">
                <a:solidFill>
                  <a:srgbClr val="FFC16A"/>
                </a:solidFill>
              </a:defRPr>
            </a:lvl6pPr>
            <a:lvl7pPr algn="l">
              <a:defRPr sz="1950" b="1">
                <a:solidFill>
                  <a:srgbClr val="FFC16A"/>
                </a:solidFill>
              </a:defRPr>
            </a:lvl7pPr>
            <a:lvl8pPr algn="l">
              <a:defRPr sz="1950" b="1">
                <a:solidFill>
                  <a:srgbClr val="FFC16A"/>
                </a:solidFill>
              </a:defRPr>
            </a:lvl8pPr>
            <a:lvl9pPr algn="l">
              <a:defRPr sz="1950" b="1">
                <a:solidFill>
                  <a:srgbClr val="FFC16A"/>
                </a:solidFill>
              </a:defRPr>
            </a:lvl9pPr>
          </a:lstStyle>
          <a:p xmlns:a="http://schemas.openxmlformats.org/drawingml/2006/main">
            <a:pPr algn="l">
              <a:defRPr sz="1950" b="1">
                <a:solidFill>
                  <a:srgbClr val="FFC16A"/>
                </a:solidFill>
              </a:defRPr>
            </a:pPr>
            <a:r>
              <a:rPr sz="1950" b="1">
                <a:solidFill>
                  <a:srgbClr val="FFC16A"/>
                </a:solidFill>
              </a:rPr>
              <a:t>Interactive AI Laboratory</a:t>
            </a:r>
          </a:p>
        </p:txBody>
      </p:sp>
      <p:sp>
        <p:nvSpPr>
          <p:cNvPr id="9" name="AI Laboratory description">
            <a:extLst xmlns:a="http://schemas.openxmlformats.org/drawingml/2006/main">
              <a:ext uri="{FF2B5EF4-FFF2-40B4-BE49-F238E27FC236}">
                <a16:creationId xmlns:a16="http://schemas.microsoft.com/office/drawing/2014/main" id="{03C08A98-260C-4B65-92B4-8E17A355D3D5}"/>
              </a:ext>
            </a:extLst>
          </p:cNvPr>
          <p:cNvSpPr>
            <a:spLocks xmlns:a="http://schemas.openxmlformats.org/drawingml/2006/main" noGrp="1"/>
          </p:cNvSpPr>
          <p:nvPr/>
        </p:nvSpPr>
        <p:spPr>
          <a:xfrm xmlns:a="http://schemas.openxmlformats.org/drawingml/2006/main">
            <a:off x="6381750" y="4486275"/>
            <a:ext cx="5200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0">
                <a:solidFill>
                  <a:srgbClr val="DCE2E6"/>
                </a:solidFill>
              </a:defRPr>
            </a:defPPr>
            <a:lvl1pPr algn="l">
              <a:defRPr sz="1725" b="0">
                <a:solidFill>
                  <a:srgbClr val="DCE2E6"/>
                </a:solidFill>
              </a:defRPr>
            </a:lvl1pPr>
            <a:lvl2pPr algn="l">
              <a:defRPr sz="1725" b="0">
                <a:solidFill>
                  <a:srgbClr val="DCE2E6"/>
                </a:solidFill>
              </a:defRPr>
            </a:lvl2pPr>
            <a:lvl3pPr algn="l">
              <a:defRPr sz="1725" b="0">
                <a:solidFill>
                  <a:srgbClr val="DCE2E6"/>
                </a:solidFill>
              </a:defRPr>
            </a:lvl3pPr>
            <a:lvl4pPr algn="l">
              <a:defRPr sz="1725" b="0">
                <a:solidFill>
                  <a:srgbClr val="DCE2E6"/>
                </a:solidFill>
              </a:defRPr>
            </a:lvl4pPr>
            <a:lvl5pPr algn="l">
              <a:defRPr sz="1725" b="0">
                <a:solidFill>
                  <a:srgbClr val="DCE2E6"/>
                </a:solidFill>
              </a:defRPr>
            </a:lvl5pPr>
            <a:lvl6pPr algn="l">
              <a:defRPr sz="1725" b="0">
                <a:solidFill>
                  <a:srgbClr val="DCE2E6"/>
                </a:solidFill>
              </a:defRPr>
            </a:lvl6pPr>
            <a:lvl7pPr algn="l">
              <a:defRPr sz="1725" b="0">
                <a:solidFill>
                  <a:srgbClr val="DCE2E6"/>
                </a:solidFill>
              </a:defRPr>
            </a:lvl7pPr>
            <a:lvl8pPr algn="l">
              <a:defRPr sz="1725" b="0">
                <a:solidFill>
                  <a:srgbClr val="DCE2E6"/>
                </a:solidFill>
              </a:defRPr>
            </a:lvl8pPr>
            <a:lvl9pPr algn="l">
              <a:defRPr sz="1725" b="0">
                <a:solidFill>
                  <a:srgbClr val="DCE2E6"/>
                </a:solidFill>
              </a:defRPr>
            </a:lvl9pPr>
          </a:lstStyle>
          <a:p xmlns:a="http://schemas.openxmlformats.org/drawingml/2006/main">
            <a:pPr algn="l">
              <a:defRPr sz="1725" b="0">
                <a:solidFill>
                  <a:srgbClr val="DCE2E6"/>
                </a:solidFill>
              </a:defRPr>
            </a:pPr>
            <a:r>
              <a:rPr sz="1725" b="0">
                <a:solidFill>
                  <a:srgbClr val="DCE2E6"/>
                </a:solidFill>
              </a:rPr>
              <a:t>See how the algorithms work, step by step.</a:t>
            </a:r>
          </a:p>
        </p:txBody>
      </p:sp>
      <p:sp>
        <p:nvSpPr>
          <p:cNvPr id="10" name="Technical section">
            <a:extLst xmlns:a="http://schemas.openxmlformats.org/drawingml/2006/main">
              <a:ext uri="{FF2B5EF4-FFF2-40B4-BE49-F238E27FC236}">
                <a16:creationId xmlns:a16="http://schemas.microsoft.com/office/drawing/2014/main" id="{65E80256-F0FF-4151-82F6-6385A0631F31}"/>
              </a:ext>
            </a:extLst>
          </p:cNvPr>
          <p:cNvSpPr>
            <a:spLocks xmlns:a="http://schemas.openxmlformats.org/drawingml/2006/main" noGrp="1"/>
          </p:cNvSpPr>
          <p:nvPr/>
        </p:nvSpPr>
        <p:spPr>
          <a:xfrm xmlns:a="http://schemas.openxmlformats.org/drawingml/2006/main">
            <a:off x="609600" y="5029200"/>
            <a:ext cx="10972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00" b="1">
                <a:solidFill>
                  <a:srgbClr val="FFC16A"/>
                </a:solidFill>
              </a:defRPr>
            </a:defPPr>
            <a:lvl1pPr algn="l">
              <a:defRPr sz="2100" b="1">
                <a:solidFill>
                  <a:srgbClr val="FFC16A"/>
                </a:solidFill>
              </a:defRPr>
            </a:lvl1pPr>
            <a:lvl2pPr algn="l">
              <a:defRPr sz="2100" b="1">
                <a:solidFill>
                  <a:srgbClr val="FFC16A"/>
                </a:solidFill>
              </a:defRPr>
            </a:lvl2pPr>
            <a:lvl3pPr algn="l">
              <a:defRPr sz="2100" b="1">
                <a:solidFill>
                  <a:srgbClr val="FFC16A"/>
                </a:solidFill>
              </a:defRPr>
            </a:lvl3pPr>
            <a:lvl4pPr algn="l">
              <a:defRPr sz="2100" b="1">
                <a:solidFill>
                  <a:srgbClr val="FFC16A"/>
                </a:solidFill>
              </a:defRPr>
            </a:lvl4pPr>
            <a:lvl5pPr algn="l">
              <a:defRPr sz="2100" b="1">
                <a:solidFill>
                  <a:srgbClr val="FFC16A"/>
                </a:solidFill>
              </a:defRPr>
            </a:lvl5pPr>
            <a:lvl6pPr algn="l">
              <a:defRPr sz="2100" b="1">
                <a:solidFill>
                  <a:srgbClr val="FFC16A"/>
                </a:solidFill>
              </a:defRPr>
            </a:lvl6pPr>
            <a:lvl7pPr algn="l">
              <a:defRPr sz="2100" b="1">
                <a:solidFill>
                  <a:srgbClr val="FFC16A"/>
                </a:solidFill>
              </a:defRPr>
            </a:lvl7pPr>
            <a:lvl8pPr algn="l">
              <a:defRPr sz="2100" b="1">
                <a:solidFill>
                  <a:srgbClr val="FFC16A"/>
                </a:solidFill>
              </a:defRPr>
            </a:lvl8pPr>
            <a:lvl9pPr algn="l">
              <a:defRPr sz="2100" b="1">
                <a:solidFill>
                  <a:srgbClr val="FFC16A"/>
                </a:solidFill>
              </a:defRPr>
            </a:lvl9pPr>
          </a:lstStyle>
          <a:p xmlns:a="http://schemas.openxmlformats.org/drawingml/2006/main">
            <a:pPr algn="l">
              <a:defRPr sz="2100" b="1">
                <a:solidFill>
                  <a:srgbClr val="FFC16A"/>
                </a:solidFill>
              </a:defRPr>
            </a:pPr>
            <a:r>
              <a:rPr sz="2100" b="1">
                <a:solidFill>
                  <a:srgbClr val="FFC16A"/>
                </a:solidFill>
              </a:rPr>
              <a:t>Technical design</a:t>
            </a:r>
          </a:p>
        </p:txBody>
      </p:sp>
      <p:sp>
        <p:nvSpPr>
          <p:cNvPr id="11" name="Technology stack">
            <a:extLst xmlns:a="http://schemas.openxmlformats.org/drawingml/2006/main">
              <a:ext uri="{FF2B5EF4-FFF2-40B4-BE49-F238E27FC236}">
                <a16:creationId xmlns:a16="http://schemas.microsoft.com/office/drawing/2014/main" id="{7F713DF8-F44F-4AA7-BA45-D64F3B46C68F}"/>
              </a:ext>
            </a:extLst>
          </p:cNvPr>
          <p:cNvSpPr>
            <a:spLocks xmlns:a="http://schemas.openxmlformats.org/drawingml/2006/main" noGrp="1"/>
          </p:cNvSpPr>
          <p:nvPr/>
        </p:nvSpPr>
        <p:spPr>
          <a:xfrm xmlns:a="http://schemas.openxmlformats.org/drawingml/2006/main">
            <a:off x="609600" y="5543550"/>
            <a:ext cx="5276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950" b="1">
                <a:solidFill>
                  <a:srgbClr val="F0E2CA"/>
                </a:solidFill>
              </a:defRPr>
            </a:defPPr>
            <a:lvl1pPr algn="l">
              <a:defRPr sz="1950" b="1">
                <a:solidFill>
                  <a:srgbClr val="F0E2CA"/>
                </a:solidFill>
              </a:defRPr>
            </a:lvl1pPr>
            <a:lvl2pPr algn="l">
              <a:defRPr sz="1950" b="1">
                <a:solidFill>
                  <a:srgbClr val="F0E2CA"/>
                </a:solidFill>
              </a:defRPr>
            </a:lvl2pPr>
            <a:lvl3pPr algn="l">
              <a:defRPr sz="1950" b="1">
                <a:solidFill>
                  <a:srgbClr val="F0E2CA"/>
                </a:solidFill>
              </a:defRPr>
            </a:lvl3pPr>
            <a:lvl4pPr algn="l">
              <a:defRPr sz="1950" b="1">
                <a:solidFill>
                  <a:srgbClr val="F0E2CA"/>
                </a:solidFill>
              </a:defRPr>
            </a:lvl4pPr>
            <a:lvl5pPr algn="l">
              <a:defRPr sz="1950" b="1">
                <a:solidFill>
                  <a:srgbClr val="F0E2CA"/>
                </a:solidFill>
              </a:defRPr>
            </a:lvl5pPr>
            <a:lvl6pPr algn="l">
              <a:defRPr sz="1950" b="1">
                <a:solidFill>
                  <a:srgbClr val="F0E2CA"/>
                </a:solidFill>
              </a:defRPr>
            </a:lvl6pPr>
            <a:lvl7pPr algn="l">
              <a:defRPr sz="1950" b="1">
                <a:solidFill>
                  <a:srgbClr val="F0E2CA"/>
                </a:solidFill>
              </a:defRPr>
            </a:lvl7pPr>
            <a:lvl8pPr algn="l">
              <a:defRPr sz="1950" b="1">
                <a:solidFill>
                  <a:srgbClr val="F0E2CA"/>
                </a:solidFill>
              </a:defRPr>
            </a:lvl8pPr>
            <a:lvl9pPr algn="l">
              <a:defRPr sz="1950" b="1">
                <a:solidFill>
                  <a:srgbClr val="F0E2CA"/>
                </a:solidFill>
              </a:defRPr>
            </a:lvl9pPr>
          </a:lstStyle>
          <a:p xmlns:a="http://schemas.openxmlformats.org/drawingml/2006/main">
            <a:pPr algn="l">
              <a:defRPr sz="1950" b="1">
                <a:solidFill>
                  <a:srgbClr val="F0E2CA"/>
                </a:solidFill>
              </a:defRPr>
            </a:pPr>
            <a:r>
              <a:rPr sz="1950" b="1">
                <a:solidFill>
                  <a:srgbClr val="F0E2CA"/>
                </a:solidFill>
              </a:rPr>
              <a:t>TypeScript + Phaser 3 + Vite</a:t>
            </a:r>
          </a:p>
        </p:txBody>
      </p:sp>
      <p:sp>
        <p:nvSpPr>
          <p:cNvPr id="12" name="Map and routing">
            <a:extLst xmlns:a="http://schemas.openxmlformats.org/drawingml/2006/main">
              <a:ext uri="{FF2B5EF4-FFF2-40B4-BE49-F238E27FC236}">
                <a16:creationId xmlns:a16="http://schemas.microsoft.com/office/drawing/2014/main" id="{A6BB7849-DCC3-485A-A83D-A811B170318D}"/>
              </a:ext>
            </a:extLst>
          </p:cNvPr>
          <p:cNvSpPr>
            <a:spLocks xmlns:a="http://schemas.openxmlformats.org/drawingml/2006/main" noGrp="1"/>
          </p:cNvSpPr>
          <p:nvPr/>
        </p:nvSpPr>
        <p:spPr>
          <a:xfrm xmlns:a="http://schemas.openxmlformats.org/drawingml/2006/main">
            <a:off x="609600" y="5972175"/>
            <a:ext cx="5276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0">
                <a:solidFill>
                  <a:srgbClr val="DCE2E6"/>
                </a:solidFill>
              </a:defRPr>
            </a:defPPr>
            <a:lvl1pPr algn="l">
              <a:defRPr sz="1725" b="0">
                <a:solidFill>
                  <a:srgbClr val="DCE2E6"/>
                </a:solidFill>
              </a:defRPr>
            </a:lvl1pPr>
            <a:lvl2pPr algn="l">
              <a:defRPr sz="1725" b="0">
                <a:solidFill>
                  <a:srgbClr val="DCE2E6"/>
                </a:solidFill>
              </a:defRPr>
            </a:lvl2pPr>
            <a:lvl3pPr algn="l">
              <a:defRPr sz="1725" b="0">
                <a:solidFill>
                  <a:srgbClr val="DCE2E6"/>
                </a:solidFill>
              </a:defRPr>
            </a:lvl3pPr>
            <a:lvl4pPr algn="l">
              <a:defRPr sz="1725" b="0">
                <a:solidFill>
                  <a:srgbClr val="DCE2E6"/>
                </a:solidFill>
              </a:defRPr>
            </a:lvl4pPr>
            <a:lvl5pPr algn="l">
              <a:defRPr sz="1725" b="0">
                <a:solidFill>
                  <a:srgbClr val="DCE2E6"/>
                </a:solidFill>
              </a:defRPr>
            </a:lvl5pPr>
            <a:lvl6pPr algn="l">
              <a:defRPr sz="1725" b="0">
                <a:solidFill>
                  <a:srgbClr val="DCE2E6"/>
                </a:solidFill>
              </a:defRPr>
            </a:lvl6pPr>
            <a:lvl7pPr algn="l">
              <a:defRPr sz="1725" b="0">
                <a:solidFill>
                  <a:srgbClr val="DCE2E6"/>
                </a:solidFill>
              </a:defRPr>
            </a:lvl7pPr>
            <a:lvl8pPr algn="l">
              <a:defRPr sz="1725" b="0">
                <a:solidFill>
                  <a:srgbClr val="DCE2E6"/>
                </a:solidFill>
              </a:defRPr>
            </a:lvl8pPr>
            <a:lvl9pPr algn="l">
              <a:defRPr sz="1725" b="0">
                <a:solidFill>
                  <a:srgbClr val="DCE2E6"/>
                </a:solidFill>
              </a:defRPr>
            </a:lvl9pPr>
          </a:lstStyle>
          <a:p xmlns:a="http://schemas.openxmlformats.org/drawingml/2006/main">
            <a:pPr algn="l">
              <a:defRPr sz="1725" b="0">
                <a:solidFill>
                  <a:srgbClr val="DCE2E6"/>
                </a:solidFill>
              </a:defRPr>
            </a:pPr>
            <a:r>
              <a:rPr sz="1725" b="0">
                <a:solidFill>
                  <a:srgbClr val="DCE2E6"/>
                </a:solidFill>
              </a:rPr>
              <a:t>CSP places rooms using rules and a seed.</a:t>
            </a:r>
          </a:p>
          <a:p xmlns:a="http://schemas.openxmlformats.org/drawingml/2006/main">
            <a:pPr algn="l">
              <a:defRPr sz="1725" b="0">
                <a:solidFill>
                  <a:srgbClr val="DCE2E6"/>
                </a:solidFill>
              </a:defRPr>
            </a:pPr>
            <a:r>
              <a:rPr sz="1725" b="0">
                <a:solidFill>
                  <a:srgbClr val="DCE2E6"/>
                </a:solidFill>
              </a:rPr>
              <a:t>A* finds paths around walls.</a:t>
            </a:r>
          </a:p>
        </p:txBody>
      </p:sp>
      <p:sp>
        <p:nvSpPr>
          <p:cNvPr id="13" name="AI and audio heading">
            <a:extLst xmlns:a="http://schemas.openxmlformats.org/drawingml/2006/main">
              <a:ext uri="{FF2B5EF4-FFF2-40B4-BE49-F238E27FC236}">
                <a16:creationId xmlns:a16="http://schemas.microsoft.com/office/drawing/2014/main" id="{8EEF865A-BA49-4E73-87E8-D0B14211AF88}"/>
              </a:ext>
            </a:extLst>
          </p:cNvPr>
          <p:cNvSpPr>
            <a:spLocks xmlns:a="http://schemas.openxmlformats.org/drawingml/2006/main" noGrp="1"/>
          </p:cNvSpPr>
          <p:nvPr/>
        </p:nvSpPr>
        <p:spPr>
          <a:xfrm xmlns:a="http://schemas.openxmlformats.org/drawingml/2006/main">
            <a:off x="6381750" y="5543550"/>
            <a:ext cx="5200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950" b="1">
                <a:solidFill>
                  <a:srgbClr val="F0E2CA"/>
                </a:solidFill>
              </a:defRPr>
            </a:defPPr>
            <a:lvl1pPr algn="l">
              <a:defRPr sz="1950" b="1">
                <a:solidFill>
                  <a:srgbClr val="F0E2CA"/>
                </a:solidFill>
              </a:defRPr>
            </a:lvl1pPr>
            <a:lvl2pPr algn="l">
              <a:defRPr sz="1950" b="1">
                <a:solidFill>
                  <a:srgbClr val="F0E2CA"/>
                </a:solidFill>
              </a:defRPr>
            </a:lvl2pPr>
            <a:lvl3pPr algn="l">
              <a:defRPr sz="1950" b="1">
                <a:solidFill>
                  <a:srgbClr val="F0E2CA"/>
                </a:solidFill>
              </a:defRPr>
            </a:lvl3pPr>
            <a:lvl4pPr algn="l">
              <a:defRPr sz="1950" b="1">
                <a:solidFill>
                  <a:srgbClr val="F0E2CA"/>
                </a:solidFill>
              </a:defRPr>
            </a:lvl4pPr>
            <a:lvl5pPr algn="l">
              <a:defRPr sz="1950" b="1">
                <a:solidFill>
                  <a:srgbClr val="F0E2CA"/>
                </a:solidFill>
              </a:defRPr>
            </a:lvl5pPr>
            <a:lvl6pPr algn="l">
              <a:defRPr sz="1950" b="1">
                <a:solidFill>
                  <a:srgbClr val="F0E2CA"/>
                </a:solidFill>
              </a:defRPr>
            </a:lvl6pPr>
            <a:lvl7pPr algn="l">
              <a:defRPr sz="1950" b="1">
                <a:solidFill>
                  <a:srgbClr val="F0E2CA"/>
                </a:solidFill>
              </a:defRPr>
            </a:lvl7pPr>
            <a:lvl8pPr algn="l">
              <a:defRPr sz="1950" b="1">
                <a:solidFill>
                  <a:srgbClr val="F0E2CA"/>
                </a:solidFill>
              </a:defRPr>
            </a:lvl8pPr>
            <a:lvl9pPr algn="l">
              <a:defRPr sz="1950" b="1">
                <a:solidFill>
                  <a:srgbClr val="F0E2CA"/>
                </a:solidFill>
              </a:defRPr>
            </a:lvl9pPr>
          </a:lstStyle>
          <a:p xmlns:a="http://schemas.openxmlformats.org/drawingml/2006/main">
            <a:pPr algn="l">
              <a:defRPr sz="1950" b="1">
                <a:solidFill>
                  <a:srgbClr val="F0E2CA"/>
                </a:solidFill>
              </a:defRPr>
            </a:pPr>
            <a:r>
              <a:rPr sz="1950" b="1">
                <a:solidFill>
                  <a:srgbClr val="F0E2CA"/>
                </a:solidFill>
              </a:rPr>
              <a:t>Enemy behaviour and music</a:t>
            </a:r>
          </a:p>
        </p:txBody>
      </p:sp>
      <p:sp>
        <p:nvSpPr>
          <p:cNvPr id="14" name="AI and audio details">
            <a:extLst xmlns:a="http://schemas.openxmlformats.org/drawingml/2006/main">
              <a:ext uri="{FF2B5EF4-FFF2-40B4-BE49-F238E27FC236}">
                <a16:creationId xmlns:a16="http://schemas.microsoft.com/office/drawing/2014/main" id="{BCE78F61-7DD6-44AE-889B-9247155FA64E}"/>
              </a:ext>
            </a:extLst>
          </p:cNvPr>
          <p:cNvSpPr>
            <a:spLocks xmlns:a="http://schemas.openxmlformats.org/drawingml/2006/main" noGrp="1"/>
          </p:cNvSpPr>
          <p:nvPr/>
        </p:nvSpPr>
        <p:spPr>
          <a:xfrm xmlns:a="http://schemas.openxmlformats.org/drawingml/2006/main">
            <a:off x="6381750" y="5972175"/>
            <a:ext cx="52006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0">
                <a:solidFill>
                  <a:srgbClr val="DCE2E6"/>
                </a:solidFill>
              </a:defRPr>
            </a:defPPr>
            <a:lvl1pPr algn="l">
              <a:defRPr sz="1725" b="0">
                <a:solidFill>
                  <a:srgbClr val="DCE2E6"/>
                </a:solidFill>
              </a:defRPr>
            </a:lvl1pPr>
            <a:lvl2pPr algn="l">
              <a:defRPr sz="1725" b="0">
                <a:solidFill>
                  <a:srgbClr val="DCE2E6"/>
                </a:solidFill>
              </a:defRPr>
            </a:lvl2pPr>
            <a:lvl3pPr algn="l">
              <a:defRPr sz="1725" b="0">
                <a:solidFill>
                  <a:srgbClr val="DCE2E6"/>
                </a:solidFill>
              </a:defRPr>
            </a:lvl3pPr>
            <a:lvl4pPr algn="l">
              <a:defRPr sz="1725" b="0">
                <a:solidFill>
                  <a:srgbClr val="DCE2E6"/>
                </a:solidFill>
              </a:defRPr>
            </a:lvl4pPr>
            <a:lvl5pPr algn="l">
              <a:defRPr sz="1725" b="0">
                <a:solidFill>
                  <a:srgbClr val="DCE2E6"/>
                </a:solidFill>
              </a:defRPr>
            </a:lvl5pPr>
            <a:lvl6pPr algn="l">
              <a:defRPr sz="1725" b="0">
                <a:solidFill>
                  <a:srgbClr val="DCE2E6"/>
                </a:solidFill>
              </a:defRPr>
            </a:lvl6pPr>
            <a:lvl7pPr algn="l">
              <a:defRPr sz="1725" b="0">
                <a:solidFill>
                  <a:srgbClr val="DCE2E6"/>
                </a:solidFill>
              </a:defRPr>
            </a:lvl7pPr>
            <a:lvl8pPr algn="l">
              <a:defRPr sz="1725" b="0">
                <a:solidFill>
                  <a:srgbClr val="DCE2E6"/>
                </a:solidFill>
              </a:defRPr>
            </a:lvl8pPr>
            <a:lvl9pPr algn="l">
              <a:defRPr sz="1725" b="0">
                <a:solidFill>
                  <a:srgbClr val="DCE2E6"/>
                </a:solidFill>
              </a:defRPr>
            </a:lvl9pPr>
          </a:lstStyle>
          <a:p xmlns:a="http://schemas.openxmlformats.org/drawingml/2006/main">
            <a:pPr algn="l">
              <a:defRPr sz="1725" b="0">
                <a:solidFill>
                  <a:srgbClr val="DCE2E6"/>
                </a:solidFill>
              </a:defRPr>
            </a:pPr>
            <a:r>
              <a:rPr sz="1725" b="0">
                <a:solidFill>
                  <a:srgbClr val="DCE2E6"/>
                </a:solidFill>
              </a:rPr>
              <a:t>FSM controls patrol, chase and attack.</a:t>
            </a:r>
          </a:p>
          <a:p xmlns:a="http://schemas.openxmlformats.org/drawingml/2006/main">
            <a:pPr algn="l">
              <a:defRPr sz="1725" b="0">
                <a:solidFill>
                  <a:srgbClr val="DCE2E6"/>
                </a:solidFill>
              </a:defRPr>
            </a:pPr>
            <a:r>
              <a:rPr sz="1725" b="0">
                <a:solidFill>
                  <a:srgbClr val="DCE2E6"/>
                </a:solidFill>
              </a:rPr>
              <a:t>Web Audio changes music during combat.</a:t>
            </a:r>
          </a:p>
        </p:txBody>
      </p:sp>
      <p:sp>
        <p:nvSpPr>
          <p:cNvPr id="15" name="Student author">
            <a:extLst xmlns:a="http://schemas.openxmlformats.org/drawingml/2006/main">
              <a:ext uri="{FF2B5EF4-FFF2-40B4-BE49-F238E27FC236}">
                <a16:creationId xmlns:a16="http://schemas.microsoft.com/office/drawing/2014/main" id="{27FA42B9-2A1F-4679-8486-421865C150FC}"/>
              </a:ext>
            </a:extLst>
          </p:cNvPr>
          <p:cNvSpPr>
            <a:spLocks xmlns:a="http://schemas.openxmlformats.org/drawingml/2006/main" noGrp="1"/>
          </p:cNvSpPr>
          <p:nvPr/>
        </p:nvSpPr>
        <p:spPr>
          <a:xfrm xmlns:a="http://schemas.openxmlformats.org/drawingml/2006/main">
            <a:off x="609600" y="4752975"/>
            <a:ext cx="5276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a:solidFill>
                  <a:srgbClr val="9EAAB4"/>
                </a:solidFill>
              </a:defRPr>
            </a:defPPr>
            <a:lvl1pPr algn="l">
              <a:defRPr sz="1500">
                <a:solidFill>
                  <a:srgbClr val="9EAAB4"/>
                </a:solidFill>
              </a:defRPr>
            </a:lvl1pPr>
            <a:lvl2pPr algn="l">
              <a:defRPr sz="1500">
                <a:solidFill>
                  <a:srgbClr val="9EAAB4"/>
                </a:solidFill>
              </a:defRPr>
            </a:lvl2pPr>
            <a:lvl3pPr algn="l">
              <a:defRPr sz="1500">
                <a:solidFill>
                  <a:srgbClr val="9EAAB4"/>
                </a:solidFill>
              </a:defRPr>
            </a:lvl3pPr>
            <a:lvl4pPr algn="l">
              <a:defRPr sz="1500">
                <a:solidFill>
                  <a:srgbClr val="9EAAB4"/>
                </a:solidFill>
              </a:defRPr>
            </a:lvl4pPr>
            <a:lvl5pPr algn="l">
              <a:defRPr sz="1500">
                <a:solidFill>
                  <a:srgbClr val="9EAAB4"/>
                </a:solidFill>
              </a:defRPr>
            </a:lvl5pPr>
            <a:lvl6pPr algn="l">
              <a:defRPr sz="1500">
                <a:solidFill>
                  <a:srgbClr val="9EAAB4"/>
                </a:solidFill>
              </a:defRPr>
            </a:lvl6pPr>
            <a:lvl7pPr algn="l">
              <a:defRPr sz="1500">
                <a:solidFill>
                  <a:srgbClr val="9EAAB4"/>
                </a:solidFill>
              </a:defRPr>
            </a:lvl7pPr>
            <a:lvl8pPr algn="l">
              <a:defRPr sz="1500">
                <a:solidFill>
                  <a:srgbClr val="9EAAB4"/>
                </a:solidFill>
              </a:defRPr>
            </a:lvl8pPr>
            <a:lvl9pPr algn="l">
              <a:defRPr sz="1500">
                <a:solidFill>
                  <a:srgbClr val="9EAAB4"/>
                </a:solidFill>
              </a:defRPr>
            </a:lvl9pPr>
          </a:lstStyle>
          <a:p xmlns:a="http://schemas.openxmlformats.org/drawingml/2006/main">
            <a:pPr algn="l">
              <a:defRPr sz="1500">
                <a:solidFill>
                  <a:srgbClr val="9EAAB4"/>
                </a:solidFill>
              </a:defRPr>
            </a:pPr>
            <a:r>
              <a:rPr sz="1500">
                <a:solidFill>
                  <a:srgbClr val="9EAAB4"/>
                </a:solidFill>
              </a:rPr>
              <a:t>Bekzat Zhailkhan  /  Individual project</a:t>
            </a:r>
          </a:p>
        </p:txBody>
      </p:sp>
    </p:spTree>
    <p:extLst>
      <p:ext uri="{BB962C8B-B14F-4D97-AF65-F5344CB8AC3E}">
        <p14:creationId xmlns:p14="http://schemas.microsoft.com/office/powerpoint/2010/main" val="468997112"/>
      </p:ext>
    </p:extLst>
  </p:cSld>
</p:sld>
</file>

<file path=ppt/slides/slide2.xml><?xml version="1.0" encoding="utf-8"?>
<p:sld xmlns:p="http://schemas.openxmlformats.org/presentationml/2006/main">
  <p:cSld>
    <p:bg>
      <p:bgPr>
        <a:solidFill xmlns:a="http://schemas.openxmlformats.org/drawingml/2006/main">
          <a:srgbClr val="0B0D12"/>
        </a:solidFill>
      </p:bgPr>
    </p:bg>
    <p:spTree>
      <p:nvGrpSpPr>
        <p:cNvPr id="1" name=""/>
        <p:cNvGrpSpPr/>
        <p:nvPr/>
      </p:nvGrpSpPr>
      <p:grpSpPr>
        <a:xfrm xmlns:a="http://schemas.openxmlformats.org/drawingml/2006/main"/>
      </p:grpSpPr>
      <p:sp>
        <p:nvSpPr>
          <p:cNvPr id="2" name="Slide title">
            <a:extLst xmlns:a="http://schemas.openxmlformats.org/drawingml/2006/main">
              <a:ext uri="{FF2B5EF4-FFF2-40B4-BE49-F238E27FC236}">
                <a16:creationId xmlns:a16="http://schemas.microsoft.com/office/drawing/2014/main" id="{42D9CC71-C180-4C54-B58C-5FD11AD4886A}"/>
              </a:ext>
            </a:extLst>
          </p:cNvPr>
          <p:cNvSpPr>
            <a:spLocks xmlns:a="http://schemas.openxmlformats.org/drawingml/2006/main" noGrp="1"/>
          </p:cNvSpPr>
          <p:nvPr/>
        </p:nvSpPr>
        <p:spPr>
          <a:xfrm xmlns:a="http://schemas.openxmlformats.org/drawingml/2006/main">
            <a:off x="609600" y="457200"/>
            <a:ext cx="10972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750" b="1">
                <a:solidFill>
                  <a:srgbClr val="F0E2CA"/>
                </a:solidFill>
              </a:defRPr>
            </a:defPPr>
            <a:lvl1pPr algn="l">
              <a:defRPr sz="3750" b="1">
                <a:solidFill>
                  <a:srgbClr val="F0E2CA"/>
                </a:solidFill>
              </a:defRPr>
            </a:lvl1pPr>
            <a:lvl2pPr algn="l">
              <a:defRPr sz="3750" b="1">
                <a:solidFill>
                  <a:srgbClr val="F0E2CA"/>
                </a:solidFill>
              </a:defRPr>
            </a:lvl2pPr>
            <a:lvl3pPr algn="l">
              <a:defRPr sz="3750" b="1">
                <a:solidFill>
                  <a:srgbClr val="F0E2CA"/>
                </a:solidFill>
              </a:defRPr>
            </a:lvl3pPr>
            <a:lvl4pPr algn="l">
              <a:defRPr sz="3750" b="1">
                <a:solidFill>
                  <a:srgbClr val="F0E2CA"/>
                </a:solidFill>
              </a:defRPr>
            </a:lvl4pPr>
            <a:lvl5pPr algn="l">
              <a:defRPr sz="3750" b="1">
                <a:solidFill>
                  <a:srgbClr val="F0E2CA"/>
                </a:solidFill>
              </a:defRPr>
            </a:lvl5pPr>
            <a:lvl6pPr algn="l">
              <a:defRPr sz="3750" b="1">
                <a:solidFill>
                  <a:srgbClr val="F0E2CA"/>
                </a:solidFill>
              </a:defRPr>
            </a:lvl6pPr>
            <a:lvl7pPr algn="l">
              <a:defRPr sz="3750" b="1">
                <a:solidFill>
                  <a:srgbClr val="F0E2CA"/>
                </a:solidFill>
              </a:defRPr>
            </a:lvl7pPr>
            <a:lvl8pPr algn="l">
              <a:defRPr sz="3750" b="1">
                <a:solidFill>
                  <a:srgbClr val="F0E2CA"/>
                </a:solidFill>
              </a:defRPr>
            </a:lvl8pPr>
            <a:lvl9pPr algn="l">
              <a:defRPr sz="3750" b="1">
                <a:solidFill>
                  <a:srgbClr val="F0E2CA"/>
                </a:solidFill>
              </a:defRPr>
            </a:lvl9pPr>
          </a:lstStyle>
          <a:p xmlns:a="http://schemas.openxmlformats.org/drawingml/2006/main">
            <a:pPr algn="l">
              <a:defRPr sz="3750" b="1">
                <a:solidFill>
                  <a:srgbClr val="F0E2CA"/>
                </a:solidFill>
              </a:defRPr>
            </a:pPr>
            <a:r>
              <a:rPr sz="3750" b="1">
                <a:solidFill>
                  <a:srgbClr val="F0E2CA"/>
                </a:solidFill>
              </a:rPr>
              <a:t>Gameplay and architecture</a:t>
            </a:r>
          </a:p>
        </p:txBody>
      </p:sp>
      <p:sp>
        <p:nvSpPr>
          <p:cNvPr id="3" name="Page number">
            <a:extLst xmlns:a="http://schemas.openxmlformats.org/drawingml/2006/main">
              <a:ext uri="{FF2B5EF4-FFF2-40B4-BE49-F238E27FC236}">
                <a16:creationId xmlns:a16="http://schemas.microsoft.com/office/drawing/2014/main" id="{973AE1BA-7AF9-4DA9-950C-7A21D57D4E08}"/>
              </a:ext>
            </a:extLst>
          </p:cNvPr>
          <p:cNvSpPr>
            <a:spLocks xmlns:a="http://schemas.openxmlformats.org/drawingml/2006/main" noGrp="1"/>
          </p:cNvSpPr>
          <p:nvPr/>
        </p:nvSpPr>
        <p:spPr>
          <a:xfrm xmlns:a="http://schemas.openxmlformats.org/drawingml/2006/main">
            <a:off x="11144250" y="641985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0">
                <a:solidFill>
                  <a:srgbClr val="AAB8C1"/>
                </a:solidFill>
              </a:defRPr>
            </a:defPPr>
            <a:lvl1pPr algn="l">
              <a:defRPr sz="1500" b="0">
                <a:solidFill>
                  <a:srgbClr val="AAB8C1"/>
                </a:solidFill>
              </a:defRPr>
            </a:lvl1pPr>
            <a:lvl2pPr algn="l">
              <a:defRPr sz="1500" b="0">
                <a:solidFill>
                  <a:srgbClr val="AAB8C1"/>
                </a:solidFill>
              </a:defRPr>
            </a:lvl2pPr>
            <a:lvl3pPr algn="l">
              <a:defRPr sz="1500" b="0">
                <a:solidFill>
                  <a:srgbClr val="AAB8C1"/>
                </a:solidFill>
              </a:defRPr>
            </a:lvl3pPr>
            <a:lvl4pPr algn="l">
              <a:defRPr sz="1500" b="0">
                <a:solidFill>
                  <a:srgbClr val="AAB8C1"/>
                </a:solidFill>
              </a:defRPr>
            </a:lvl4pPr>
            <a:lvl5pPr algn="l">
              <a:defRPr sz="1500" b="0">
                <a:solidFill>
                  <a:srgbClr val="AAB8C1"/>
                </a:solidFill>
              </a:defRPr>
            </a:lvl5pPr>
            <a:lvl6pPr algn="l">
              <a:defRPr sz="1500" b="0">
                <a:solidFill>
                  <a:srgbClr val="AAB8C1"/>
                </a:solidFill>
              </a:defRPr>
            </a:lvl6pPr>
            <a:lvl7pPr algn="l">
              <a:defRPr sz="1500" b="0">
                <a:solidFill>
                  <a:srgbClr val="AAB8C1"/>
                </a:solidFill>
              </a:defRPr>
            </a:lvl7pPr>
            <a:lvl8pPr algn="l">
              <a:defRPr sz="1500" b="0">
                <a:solidFill>
                  <a:srgbClr val="AAB8C1"/>
                </a:solidFill>
              </a:defRPr>
            </a:lvl8pPr>
            <a:lvl9pPr algn="l">
              <a:defRPr sz="1500" b="0">
                <a:solidFill>
                  <a:srgbClr val="AAB8C1"/>
                </a:solidFill>
              </a:defRPr>
            </a:lvl9pPr>
          </a:lstStyle>
          <a:p xmlns:a="http://schemas.openxmlformats.org/drawingml/2006/main">
            <a:pPr algn="l">
              <a:defRPr sz="1500" b="0">
                <a:solidFill>
                  <a:srgbClr val="AAB8C1"/>
                </a:solidFill>
              </a:defRPr>
            </a:pPr>
            <a:r>
              <a:rPr sz="1500" b="0">
                <a:solidFill>
                  <a:srgbClr val="AAB8C1"/>
                </a:solidFill>
              </a:rPr>
              <a:t>02</a:t>
            </a:r>
          </a:p>
        </p:txBody>
      </p:sp>
      <p:sp>
        <p:nvSpPr>
          <p:cNvPr id="4" name="Story and objective">
            <a:extLst xmlns:a="http://schemas.openxmlformats.org/drawingml/2006/main">
              <a:ext uri="{FF2B5EF4-FFF2-40B4-BE49-F238E27FC236}">
                <a16:creationId xmlns:a16="http://schemas.microsoft.com/office/drawing/2014/main" id="{F0B6E438-EEA4-4189-A3A8-603C00D644B7}"/>
              </a:ext>
            </a:extLst>
          </p:cNvPr>
          <p:cNvSpPr>
            <a:spLocks xmlns:a="http://schemas.openxmlformats.org/drawingml/2006/main" noGrp="1"/>
          </p:cNvSpPr>
          <p:nvPr/>
        </p:nvSpPr>
        <p:spPr>
          <a:xfrm xmlns:a="http://schemas.openxmlformats.org/drawingml/2006/main">
            <a:off x="609600" y="1409700"/>
            <a:ext cx="52768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950" b="0">
                <a:solidFill>
                  <a:srgbClr val="DCE2E6"/>
                </a:solidFill>
              </a:defRPr>
            </a:defPPr>
            <a:lvl1pPr algn="l">
              <a:defRPr sz="1950" b="0">
                <a:solidFill>
                  <a:srgbClr val="DCE2E6"/>
                </a:solidFill>
              </a:defRPr>
            </a:lvl1pPr>
            <a:lvl2pPr algn="l">
              <a:defRPr sz="1950" b="0">
                <a:solidFill>
                  <a:srgbClr val="DCE2E6"/>
                </a:solidFill>
              </a:defRPr>
            </a:lvl2pPr>
            <a:lvl3pPr algn="l">
              <a:defRPr sz="1950" b="0">
                <a:solidFill>
                  <a:srgbClr val="DCE2E6"/>
                </a:solidFill>
              </a:defRPr>
            </a:lvl3pPr>
            <a:lvl4pPr algn="l">
              <a:defRPr sz="1950" b="0">
                <a:solidFill>
                  <a:srgbClr val="DCE2E6"/>
                </a:solidFill>
              </a:defRPr>
            </a:lvl4pPr>
            <a:lvl5pPr algn="l">
              <a:defRPr sz="1950" b="0">
                <a:solidFill>
                  <a:srgbClr val="DCE2E6"/>
                </a:solidFill>
              </a:defRPr>
            </a:lvl5pPr>
            <a:lvl6pPr algn="l">
              <a:defRPr sz="1950" b="0">
                <a:solidFill>
                  <a:srgbClr val="DCE2E6"/>
                </a:solidFill>
              </a:defRPr>
            </a:lvl6pPr>
            <a:lvl7pPr algn="l">
              <a:defRPr sz="1950" b="0">
                <a:solidFill>
                  <a:srgbClr val="DCE2E6"/>
                </a:solidFill>
              </a:defRPr>
            </a:lvl7pPr>
            <a:lvl8pPr algn="l">
              <a:defRPr sz="1950" b="0">
                <a:solidFill>
                  <a:srgbClr val="DCE2E6"/>
                </a:solidFill>
              </a:defRPr>
            </a:lvl8pPr>
            <a:lvl9pPr algn="l">
              <a:defRPr sz="1950" b="0">
                <a:solidFill>
                  <a:srgbClr val="DCE2E6"/>
                </a:solidFill>
              </a:defRPr>
            </a:lvl9pPr>
          </a:lstStyle>
          <a:p xmlns:a="http://schemas.openxmlformats.org/drawingml/2006/main">
            <a:pPr algn="l">
              <a:defRPr sz="1950" b="0">
                <a:solidFill>
                  <a:srgbClr val="DCE2E6"/>
                </a:solidFill>
              </a:defRPr>
            </a:pPr>
            <a:r>
              <a:rPr sz="1950" b="0">
                <a:solidFill>
                  <a:srgbClr val="DCE2E6"/>
                </a:solidFill>
              </a:rPr>
              <a:t>The last keeper carries an ember</a:t>
            </a:r>
          </a:p>
          <a:p xmlns:a="http://schemas.openxmlformats.org/drawingml/2006/main">
            <a:pPr algn="l">
              <a:defRPr sz="1950" b="0">
                <a:solidFill>
                  <a:srgbClr val="DCE2E6"/>
                </a:solidFill>
              </a:defRPr>
            </a:pPr>
            <a:r>
              <a:rPr sz="1950" b="0">
                <a:solidFill>
                  <a:srgbClr val="DCE2E6"/>
                </a:solidFill>
              </a:rPr>
              <a:t>through five floors of forgotten ruins.</a:t>
            </a:r>
          </a:p>
        </p:txBody>
      </p:sp>
      <p:sp>
        <p:nvSpPr>
          <p:cNvPr id="5" name="Weapon heading">
            <a:extLst xmlns:a="http://schemas.openxmlformats.org/drawingml/2006/main">
              <a:ext uri="{FF2B5EF4-FFF2-40B4-BE49-F238E27FC236}">
                <a16:creationId xmlns:a16="http://schemas.microsoft.com/office/drawing/2014/main" id="{B4CB8829-5304-4988-B4B0-234084F873C1}"/>
              </a:ext>
            </a:extLst>
          </p:cNvPr>
          <p:cNvSpPr>
            <a:spLocks xmlns:a="http://schemas.openxmlformats.org/drawingml/2006/main" noGrp="1"/>
          </p:cNvSpPr>
          <p:nvPr/>
        </p:nvSpPr>
        <p:spPr>
          <a:xfrm xmlns:a="http://schemas.openxmlformats.org/drawingml/2006/main">
            <a:off x="609600" y="2524125"/>
            <a:ext cx="5276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C16A"/>
                </a:solidFill>
              </a:defRPr>
            </a:defPPr>
            <a:lvl1pPr algn="l">
              <a:defRPr sz="2250" b="1">
                <a:solidFill>
                  <a:srgbClr val="FFC16A"/>
                </a:solidFill>
              </a:defRPr>
            </a:lvl1pPr>
            <a:lvl2pPr algn="l">
              <a:defRPr sz="2250" b="1">
                <a:solidFill>
                  <a:srgbClr val="FFC16A"/>
                </a:solidFill>
              </a:defRPr>
            </a:lvl2pPr>
            <a:lvl3pPr algn="l">
              <a:defRPr sz="2250" b="1">
                <a:solidFill>
                  <a:srgbClr val="FFC16A"/>
                </a:solidFill>
              </a:defRPr>
            </a:lvl3pPr>
            <a:lvl4pPr algn="l">
              <a:defRPr sz="2250" b="1">
                <a:solidFill>
                  <a:srgbClr val="FFC16A"/>
                </a:solidFill>
              </a:defRPr>
            </a:lvl4pPr>
            <a:lvl5pPr algn="l">
              <a:defRPr sz="2250" b="1">
                <a:solidFill>
                  <a:srgbClr val="FFC16A"/>
                </a:solidFill>
              </a:defRPr>
            </a:lvl5pPr>
            <a:lvl6pPr algn="l">
              <a:defRPr sz="2250" b="1">
                <a:solidFill>
                  <a:srgbClr val="FFC16A"/>
                </a:solidFill>
              </a:defRPr>
            </a:lvl6pPr>
            <a:lvl7pPr algn="l">
              <a:defRPr sz="2250" b="1">
                <a:solidFill>
                  <a:srgbClr val="FFC16A"/>
                </a:solidFill>
              </a:defRPr>
            </a:lvl7pPr>
            <a:lvl8pPr algn="l">
              <a:defRPr sz="2250" b="1">
                <a:solidFill>
                  <a:srgbClr val="FFC16A"/>
                </a:solidFill>
              </a:defRPr>
            </a:lvl8pPr>
            <a:lvl9pPr algn="l">
              <a:defRPr sz="2250" b="1">
                <a:solidFill>
                  <a:srgbClr val="FFC16A"/>
                </a:solidFill>
              </a:defRPr>
            </a:lvl9pPr>
          </a:lstStyle>
          <a:p xmlns:a="http://schemas.openxmlformats.org/drawingml/2006/main">
            <a:pPr algn="l">
              <a:defRPr sz="2250" b="1">
                <a:solidFill>
                  <a:srgbClr val="FFC16A"/>
                </a:solidFill>
              </a:defRPr>
            </a:pPr>
            <a:r>
              <a:rPr sz="2250" b="1">
                <a:solidFill>
                  <a:srgbClr val="FFC16A"/>
                </a:solidFill>
              </a:rPr>
              <a:t>Four combat styles</a:t>
            </a:r>
          </a:p>
        </p:txBody>
      </p:sp>
      <p:sp>
        <p:nvSpPr>
          <p:cNvPr id="6" name="Weapon choices">
            <a:extLst xmlns:a="http://schemas.openxmlformats.org/drawingml/2006/main">
              <a:ext uri="{FF2B5EF4-FFF2-40B4-BE49-F238E27FC236}">
                <a16:creationId xmlns:a16="http://schemas.microsoft.com/office/drawing/2014/main" id="{93A2D34A-0BD5-4F3C-A1A5-15AFF2EE1649}"/>
              </a:ext>
            </a:extLst>
          </p:cNvPr>
          <p:cNvSpPr>
            <a:spLocks xmlns:a="http://schemas.openxmlformats.org/drawingml/2006/main" noGrp="1"/>
          </p:cNvSpPr>
          <p:nvPr/>
        </p:nvSpPr>
        <p:spPr>
          <a:xfrm xmlns:a="http://schemas.openxmlformats.org/drawingml/2006/main">
            <a:off x="609600" y="3009900"/>
            <a:ext cx="527685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DCE2E6"/>
                </a:solidFill>
              </a:defRPr>
            </a:defPPr>
            <a:lvl1pPr algn="l">
              <a:defRPr sz="1800" b="0">
                <a:solidFill>
                  <a:srgbClr val="DCE2E6"/>
                </a:solidFill>
              </a:defRPr>
            </a:lvl1pPr>
            <a:lvl2pPr algn="l">
              <a:defRPr sz="1800" b="0">
                <a:solidFill>
                  <a:srgbClr val="DCE2E6"/>
                </a:solidFill>
              </a:defRPr>
            </a:lvl2pPr>
            <a:lvl3pPr algn="l">
              <a:defRPr sz="1800" b="0">
                <a:solidFill>
                  <a:srgbClr val="DCE2E6"/>
                </a:solidFill>
              </a:defRPr>
            </a:lvl3pPr>
            <a:lvl4pPr algn="l">
              <a:defRPr sz="1800" b="0">
                <a:solidFill>
                  <a:srgbClr val="DCE2E6"/>
                </a:solidFill>
              </a:defRPr>
            </a:lvl4pPr>
            <a:lvl5pPr algn="l">
              <a:defRPr sz="1800" b="0">
                <a:solidFill>
                  <a:srgbClr val="DCE2E6"/>
                </a:solidFill>
              </a:defRPr>
            </a:lvl5pPr>
            <a:lvl6pPr algn="l">
              <a:defRPr sz="1800" b="0">
                <a:solidFill>
                  <a:srgbClr val="DCE2E6"/>
                </a:solidFill>
              </a:defRPr>
            </a:lvl6pPr>
            <a:lvl7pPr algn="l">
              <a:defRPr sz="1800" b="0">
                <a:solidFill>
                  <a:srgbClr val="DCE2E6"/>
                </a:solidFill>
              </a:defRPr>
            </a:lvl7pPr>
            <a:lvl8pPr algn="l">
              <a:defRPr sz="1800" b="0">
                <a:solidFill>
                  <a:srgbClr val="DCE2E6"/>
                </a:solidFill>
              </a:defRPr>
            </a:lvl8pPr>
            <a:lvl9pPr algn="l">
              <a:defRPr sz="1800" b="0">
                <a:solidFill>
                  <a:srgbClr val="DCE2E6"/>
                </a:solidFill>
              </a:defRPr>
            </a:lvl9pPr>
          </a:lstStyle>
          <a:p xmlns:a="http://schemas.openxmlformats.org/drawingml/2006/main">
            <a:pPr algn="l">
              <a:defRPr sz="1800" b="0">
                <a:solidFill>
                  <a:srgbClr val="DCE2E6"/>
                </a:solidFill>
              </a:defRPr>
            </a:pPr>
            <a:r>
              <a:rPr sz="1800" b="0">
                <a:solidFill>
                  <a:srgbClr val="DCE2E6"/>
                </a:solidFill>
              </a:rPr>
              <a:t>Sparkcaster: accurate bolts</a:t>
            </a:r>
          </a:p>
          <a:p xmlns:a="http://schemas.openxmlformats.org/drawingml/2006/main">
            <a:pPr algn="l">
              <a:defRPr sz="1800" b="0">
                <a:solidFill>
                  <a:srgbClr val="DCE2E6"/>
                </a:solidFill>
              </a:defRPr>
            </a:pPr>
            <a:r>
              <a:rPr sz="1800" b="0">
                <a:solidFill>
                  <a:srgbClr val="DCE2E6"/>
                </a:solidFill>
              </a:rPr>
              <a:t>Ash Scattergun: close-range pellets</a:t>
            </a:r>
          </a:p>
          <a:p xmlns:a="http://schemas.openxmlformats.org/drawingml/2006/main">
            <a:pPr algn="l">
              <a:defRPr sz="1800" b="0">
                <a:solidFill>
                  <a:srgbClr val="DCE2E6"/>
                </a:solidFill>
              </a:defRPr>
            </a:pPr>
            <a:r>
              <a:rPr sz="1800" b="0">
                <a:solidFill>
                  <a:srgbClr val="DCE2E6"/>
                </a:solidFill>
              </a:rPr>
              <a:t>Coal Lance: a charged piercing shot</a:t>
            </a:r>
          </a:p>
          <a:p xmlns:a="http://schemas.openxmlformats.org/drawingml/2006/main">
            <a:pPr algn="l">
              <a:defRPr sz="1800" b="0">
                <a:solidFill>
                  <a:srgbClr val="DCE2E6"/>
                </a:solidFill>
              </a:defRPr>
            </a:pPr>
            <a:r>
              <a:rPr sz="1800" b="0">
                <a:solidFill>
                  <a:srgbClr val="DCE2E6"/>
                </a:solidFill>
              </a:rPr>
              <a:t>Flame Chain: an arc against a group</a:t>
            </a:r>
          </a:p>
        </p:txBody>
      </p:sp>
      <p:pic>
        <p:nvPicPr>
          <p:cNvPr id="7" name="">
            <a:extLst xmlns:a="http://schemas.openxmlformats.org/drawingml/2006/main">
              <a:ext uri="{FF2B5EF4-FFF2-40B4-BE49-F238E27FC236}">
                <a16:creationId xmlns:a16="http://schemas.microsoft.com/office/drawing/2014/main" id="{E4C3A07F-3AE1-4718-ACAB-7D2DE38D021B}"/>
              </a:ext>
            </a:extLst>
          </p:cNvPr>
          <p:cNvPicPr>
            <a:picLocks xmlns:a="http://schemas.openxmlformats.org/drawingml/2006/main" noChangeAspect="1"/>
          </p:cNvPicPr>
          <p:nvPr/>
        </p:nvPicPr>
        <p:blipFill>
          <a:blip xmlns:r="http://schemas.openxmlformats.org/officeDocument/2006/relationships" xmlns:a="http://schemas.openxmlformats.org/drawingml/2006/main" r:embed="R2b50a711df614b3f"/>
          <a:stretch xmlns:a="http://schemas.openxmlformats.org/drawingml/2006/main"/>
        </p:blipFill>
        <p:spPr>
          <a:xfrm xmlns:a="http://schemas.openxmlformats.org/drawingml/2006/main">
            <a:off x="6381750" y="1409700"/>
            <a:ext cx="5200650" cy="2925366"/>
          </a:xfrm>
          <a:prstGeom xmlns:a="http://schemas.openxmlformats.org/drawingml/2006/main" prst="rect">
            <a:avLst/>
          </a:prstGeom>
        </p:spPr>
      </p:pic>
      <p:sp>
        <p:nvSpPr>
          <p:cNvPr id="8" name="Heat tradeoff">
            <a:extLst xmlns:a="http://schemas.openxmlformats.org/drawingml/2006/main">
              <a:ext uri="{FF2B5EF4-FFF2-40B4-BE49-F238E27FC236}">
                <a16:creationId xmlns:a16="http://schemas.microsoft.com/office/drawing/2014/main" id="{F68DB564-551D-449D-8455-61DFE37FA173}"/>
              </a:ext>
            </a:extLst>
          </p:cNvPr>
          <p:cNvSpPr>
            <a:spLocks xmlns:a="http://schemas.openxmlformats.org/drawingml/2006/main" noGrp="1"/>
          </p:cNvSpPr>
          <p:nvPr/>
        </p:nvSpPr>
        <p:spPr>
          <a:xfrm xmlns:a="http://schemas.openxmlformats.org/drawingml/2006/main">
            <a:off x="6381750" y="4581525"/>
            <a:ext cx="52006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DCE2E6"/>
                </a:solidFill>
              </a:defRPr>
            </a:defPPr>
            <a:lvl1pPr algn="l">
              <a:defRPr sz="1800" b="0">
                <a:solidFill>
                  <a:srgbClr val="DCE2E6"/>
                </a:solidFill>
              </a:defRPr>
            </a:lvl1pPr>
            <a:lvl2pPr algn="l">
              <a:defRPr sz="1800" b="0">
                <a:solidFill>
                  <a:srgbClr val="DCE2E6"/>
                </a:solidFill>
              </a:defRPr>
            </a:lvl2pPr>
            <a:lvl3pPr algn="l">
              <a:defRPr sz="1800" b="0">
                <a:solidFill>
                  <a:srgbClr val="DCE2E6"/>
                </a:solidFill>
              </a:defRPr>
            </a:lvl3pPr>
            <a:lvl4pPr algn="l">
              <a:defRPr sz="1800" b="0">
                <a:solidFill>
                  <a:srgbClr val="DCE2E6"/>
                </a:solidFill>
              </a:defRPr>
            </a:lvl4pPr>
            <a:lvl5pPr algn="l">
              <a:defRPr sz="1800" b="0">
                <a:solidFill>
                  <a:srgbClr val="DCE2E6"/>
                </a:solidFill>
              </a:defRPr>
            </a:lvl5pPr>
            <a:lvl6pPr algn="l">
              <a:defRPr sz="1800" b="0">
                <a:solidFill>
                  <a:srgbClr val="DCE2E6"/>
                </a:solidFill>
              </a:defRPr>
            </a:lvl6pPr>
            <a:lvl7pPr algn="l">
              <a:defRPr sz="1800" b="0">
                <a:solidFill>
                  <a:srgbClr val="DCE2E6"/>
                </a:solidFill>
              </a:defRPr>
            </a:lvl7pPr>
            <a:lvl8pPr algn="l">
              <a:defRPr sz="1800" b="0">
                <a:solidFill>
                  <a:srgbClr val="DCE2E6"/>
                </a:solidFill>
              </a:defRPr>
            </a:lvl8pPr>
            <a:lvl9pPr algn="l">
              <a:defRPr sz="1800" b="0">
                <a:solidFill>
                  <a:srgbClr val="DCE2E6"/>
                </a:solidFill>
              </a:defRPr>
            </a:lvl9pPr>
          </a:lstStyle>
          <a:p xmlns:a="http://schemas.openxmlformats.org/drawingml/2006/main">
            <a:pPr algn="l">
              <a:defRPr sz="1800" b="0">
                <a:solidFill>
                  <a:srgbClr val="DCE2E6"/>
                </a:solidFill>
              </a:defRPr>
            </a:pPr>
            <a:r>
              <a:rPr sz="1800" b="0">
                <a:solidFill>
                  <a:srgbClr val="DCE2E6"/>
                </a:solidFill>
              </a:rPr>
              <a:t>High heat increases damage and visibility.</a:t>
            </a:r>
          </a:p>
          <a:p xmlns:a="http://schemas.openxmlformats.org/drawingml/2006/main">
            <a:pPr algn="l">
              <a:defRPr sz="1800" b="0">
                <a:solidFill>
                  <a:srgbClr val="DCE2E6"/>
                </a:solidFill>
              </a:defRPr>
            </a:pPr>
            <a:r>
              <a:rPr sz="1800" b="0">
                <a:solidFill>
                  <a:srgbClr val="DCE2E6"/>
                </a:solidFill>
              </a:rPr>
              <a:t>Special attacks spend heat.</a:t>
            </a:r>
          </a:p>
        </p:txBody>
      </p:sp>
      <p:sp>
        <p:nvSpPr>
          <p:cNvPr id="9" name="Architecture heading">
            <a:extLst xmlns:a="http://schemas.openxmlformats.org/drawingml/2006/main">
              <a:ext uri="{FF2B5EF4-FFF2-40B4-BE49-F238E27FC236}">
                <a16:creationId xmlns:a16="http://schemas.microsoft.com/office/drawing/2014/main" id="{C6B612CE-8CDC-4C6F-B132-E64EF9AAAA07}"/>
              </a:ext>
            </a:extLst>
          </p:cNvPr>
          <p:cNvSpPr>
            <a:spLocks xmlns:a="http://schemas.openxmlformats.org/drawingml/2006/main" noGrp="1"/>
          </p:cNvSpPr>
          <p:nvPr/>
        </p:nvSpPr>
        <p:spPr>
          <a:xfrm xmlns:a="http://schemas.openxmlformats.org/drawingml/2006/main">
            <a:off x="609600" y="4981575"/>
            <a:ext cx="5276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C16A"/>
                </a:solidFill>
              </a:defRPr>
            </a:defPPr>
            <a:lvl1pPr algn="l">
              <a:defRPr sz="2250" b="1">
                <a:solidFill>
                  <a:srgbClr val="FFC16A"/>
                </a:solidFill>
              </a:defRPr>
            </a:lvl1pPr>
            <a:lvl2pPr algn="l">
              <a:defRPr sz="2250" b="1">
                <a:solidFill>
                  <a:srgbClr val="FFC16A"/>
                </a:solidFill>
              </a:defRPr>
            </a:lvl2pPr>
            <a:lvl3pPr algn="l">
              <a:defRPr sz="2250" b="1">
                <a:solidFill>
                  <a:srgbClr val="FFC16A"/>
                </a:solidFill>
              </a:defRPr>
            </a:lvl3pPr>
            <a:lvl4pPr algn="l">
              <a:defRPr sz="2250" b="1">
                <a:solidFill>
                  <a:srgbClr val="FFC16A"/>
                </a:solidFill>
              </a:defRPr>
            </a:lvl4pPr>
            <a:lvl5pPr algn="l">
              <a:defRPr sz="2250" b="1">
                <a:solidFill>
                  <a:srgbClr val="FFC16A"/>
                </a:solidFill>
              </a:defRPr>
            </a:lvl5pPr>
            <a:lvl6pPr algn="l">
              <a:defRPr sz="2250" b="1">
                <a:solidFill>
                  <a:srgbClr val="FFC16A"/>
                </a:solidFill>
              </a:defRPr>
            </a:lvl6pPr>
            <a:lvl7pPr algn="l">
              <a:defRPr sz="2250" b="1">
                <a:solidFill>
                  <a:srgbClr val="FFC16A"/>
                </a:solidFill>
              </a:defRPr>
            </a:lvl7pPr>
            <a:lvl8pPr algn="l">
              <a:defRPr sz="2250" b="1">
                <a:solidFill>
                  <a:srgbClr val="FFC16A"/>
                </a:solidFill>
              </a:defRPr>
            </a:lvl8pPr>
            <a:lvl9pPr algn="l">
              <a:defRPr sz="2250" b="1">
                <a:solidFill>
                  <a:srgbClr val="FFC16A"/>
                </a:solidFill>
              </a:defRPr>
            </a:lvl9pPr>
          </a:lstStyle>
          <a:p xmlns:a="http://schemas.openxmlformats.org/drawingml/2006/main">
            <a:pPr algn="l">
              <a:defRPr sz="2250" b="1">
                <a:solidFill>
                  <a:srgbClr val="FFC16A"/>
                </a:solidFill>
              </a:defRPr>
            </a:pPr>
            <a:r>
              <a:rPr sz="2250" b="1">
                <a:solidFill>
                  <a:srgbClr val="FFC16A"/>
                </a:solidFill>
              </a:rPr>
              <a:t>Separate game rules and graphics</a:t>
            </a:r>
          </a:p>
        </p:txBody>
      </p:sp>
      <p:sp>
        <p:nvSpPr>
          <p:cNvPr id="10" name="Simulation modules">
            <a:extLst xmlns:a="http://schemas.openxmlformats.org/drawingml/2006/main">
              <a:ext uri="{FF2B5EF4-FFF2-40B4-BE49-F238E27FC236}">
                <a16:creationId xmlns:a16="http://schemas.microsoft.com/office/drawing/2014/main" id="{390A6F58-3AEE-4FF6-AE1D-8CACFDCAB3ED}"/>
              </a:ext>
            </a:extLst>
          </p:cNvPr>
          <p:cNvSpPr>
            <a:spLocks xmlns:a="http://schemas.openxmlformats.org/drawingml/2006/main" noGrp="1"/>
          </p:cNvSpPr>
          <p:nvPr/>
        </p:nvSpPr>
        <p:spPr>
          <a:xfrm xmlns:a="http://schemas.openxmlformats.org/drawingml/2006/main">
            <a:off x="609600" y="5495925"/>
            <a:ext cx="52768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DCE2E6"/>
                </a:solidFill>
              </a:defRPr>
            </a:defPPr>
            <a:lvl1pPr algn="l">
              <a:defRPr sz="1800" b="0">
                <a:solidFill>
                  <a:srgbClr val="DCE2E6"/>
                </a:solidFill>
              </a:defRPr>
            </a:lvl1pPr>
            <a:lvl2pPr algn="l">
              <a:defRPr sz="1800" b="0">
                <a:solidFill>
                  <a:srgbClr val="DCE2E6"/>
                </a:solidFill>
              </a:defRPr>
            </a:lvl2pPr>
            <a:lvl3pPr algn="l">
              <a:defRPr sz="1800" b="0">
                <a:solidFill>
                  <a:srgbClr val="DCE2E6"/>
                </a:solidFill>
              </a:defRPr>
            </a:lvl3pPr>
            <a:lvl4pPr algn="l">
              <a:defRPr sz="1800" b="0">
                <a:solidFill>
                  <a:srgbClr val="DCE2E6"/>
                </a:solidFill>
              </a:defRPr>
            </a:lvl4pPr>
            <a:lvl5pPr algn="l">
              <a:defRPr sz="1800" b="0">
                <a:solidFill>
                  <a:srgbClr val="DCE2E6"/>
                </a:solidFill>
              </a:defRPr>
            </a:lvl5pPr>
            <a:lvl6pPr algn="l">
              <a:defRPr sz="1800" b="0">
                <a:solidFill>
                  <a:srgbClr val="DCE2E6"/>
                </a:solidFill>
              </a:defRPr>
            </a:lvl6pPr>
            <a:lvl7pPr algn="l">
              <a:defRPr sz="1800" b="0">
                <a:solidFill>
                  <a:srgbClr val="DCE2E6"/>
                </a:solidFill>
              </a:defRPr>
            </a:lvl7pPr>
            <a:lvl8pPr algn="l">
              <a:defRPr sz="1800" b="0">
                <a:solidFill>
                  <a:srgbClr val="DCE2E6"/>
                </a:solidFill>
              </a:defRPr>
            </a:lvl8pPr>
            <a:lvl9pPr algn="l">
              <a:defRPr sz="1800" b="0">
                <a:solidFill>
                  <a:srgbClr val="DCE2E6"/>
                </a:solidFill>
              </a:defRPr>
            </a:lvl9pPr>
          </a:lstStyle>
          <a:p xmlns:a="http://schemas.openxmlformats.org/drawingml/2006/main">
            <a:pPr algn="l">
              <a:defRPr sz="1800" b="0">
                <a:solidFill>
                  <a:srgbClr val="DCE2E6"/>
                </a:solidFill>
              </a:defRPr>
            </a:pPr>
            <a:r>
              <a:rPr sz="1800" b="0">
                <a:solidFill>
                  <a:srgbClr val="DCE2E6"/>
                </a:solidFill>
              </a:rPr>
              <a:t>TypeScript modules run combat and AI.</a:t>
            </a:r>
          </a:p>
          <a:p xmlns:a="http://schemas.openxmlformats.org/drawingml/2006/main">
            <a:pPr algn="l">
              <a:defRPr sz="1800" b="0">
                <a:solidFill>
                  <a:srgbClr val="DCE2E6"/>
                </a:solidFill>
              </a:defRPr>
            </a:pPr>
            <a:r>
              <a:rPr sz="1800" b="0">
                <a:solidFill>
                  <a:srgbClr val="DCE2E6"/>
                </a:solidFill>
              </a:rPr>
              <a:t>Phaser 3 draws the world and reads input.</a:t>
            </a:r>
          </a:p>
        </p:txBody>
      </p:sp>
      <p:sp>
        <p:nvSpPr>
          <p:cNvPr id="11" name="Build and sound">
            <a:extLst xmlns:a="http://schemas.openxmlformats.org/drawingml/2006/main">
              <a:ext uri="{FF2B5EF4-FFF2-40B4-BE49-F238E27FC236}">
                <a16:creationId xmlns:a16="http://schemas.microsoft.com/office/drawing/2014/main" id="{DAFEFE1E-0469-4125-BE4C-740A18771306}"/>
              </a:ext>
            </a:extLst>
          </p:cNvPr>
          <p:cNvSpPr>
            <a:spLocks xmlns:a="http://schemas.openxmlformats.org/drawingml/2006/main" noGrp="1"/>
          </p:cNvSpPr>
          <p:nvPr/>
        </p:nvSpPr>
        <p:spPr>
          <a:xfrm xmlns:a="http://schemas.openxmlformats.org/drawingml/2006/main">
            <a:off x="6381750" y="5495925"/>
            <a:ext cx="52006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DCE2E6"/>
                </a:solidFill>
              </a:defRPr>
            </a:defPPr>
            <a:lvl1pPr algn="l">
              <a:defRPr sz="1800" b="0">
                <a:solidFill>
                  <a:srgbClr val="DCE2E6"/>
                </a:solidFill>
              </a:defRPr>
            </a:lvl1pPr>
            <a:lvl2pPr algn="l">
              <a:defRPr sz="1800" b="0">
                <a:solidFill>
                  <a:srgbClr val="DCE2E6"/>
                </a:solidFill>
              </a:defRPr>
            </a:lvl2pPr>
            <a:lvl3pPr algn="l">
              <a:defRPr sz="1800" b="0">
                <a:solidFill>
                  <a:srgbClr val="DCE2E6"/>
                </a:solidFill>
              </a:defRPr>
            </a:lvl3pPr>
            <a:lvl4pPr algn="l">
              <a:defRPr sz="1800" b="0">
                <a:solidFill>
                  <a:srgbClr val="DCE2E6"/>
                </a:solidFill>
              </a:defRPr>
            </a:lvl4pPr>
            <a:lvl5pPr algn="l">
              <a:defRPr sz="1800" b="0">
                <a:solidFill>
                  <a:srgbClr val="DCE2E6"/>
                </a:solidFill>
              </a:defRPr>
            </a:lvl5pPr>
            <a:lvl6pPr algn="l">
              <a:defRPr sz="1800" b="0">
                <a:solidFill>
                  <a:srgbClr val="DCE2E6"/>
                </a:solidFill>
              </a:defRPr>
            </a:lvl6pPr>
            <a:lvl7pPr algn="l">
              <a:defRPr sz="1800" b="0">
                <a:solidFill>
                  <a:srgbClr val="DCE2E6"/>
                </a:solidFill>
              </a:defRPr>
            </a:lvl7pPr>
            <a:lvl8pPr algn="l">
              <a:defRPr sz="1800" b="0">
                <a:solidFill>
                  <a:srgbClr val="DCE2E6"/>
                </a:solidFill>
              </a:defRPr>
            </a:lvl8pPr>
            <a:lvl9pPr algn="l">
              <a:defRPr sz="1800" b="0">
                <a:solidFill>
                  <a:srgbClr val="DCE2E6"/>
                </a:solidFill>
              </a:defRPr>
            </a:lvl9pPr>
          </a:lstStyle>
          <a:p xmlns:a="http://schemas.openxmlformats.org/drawingml/2006/main">
            <a:pPr algn="l">
              <a:defRPr sz="1800" b="0">
                <a:solidFill>
                  <a:srgbClr val="DCE2E6"/>
                </a:solidFill>
              </a:defRPr>
            </a:pPr>
            <a:r>
              <a:rPr sz="1800" b="0">
                <a:solidFill>
                  <a:srgbClr val="DCE2E6"/>
                </a:solidFill>
              </a:rPr>
              <a:t>Vite runs and builds the browser app.</a:t>
            </a:r>
          </a:p>
          <a:p xmlns:a="http://schemas.openxmlformats.org/drawingml/2006/main">
            <a:pPr algn="l">
              <a:defRPr sz="1800" b="0">
                <a:solidFill>
                  <a:srgbClr val="DCE2E6"/>
                </a:solidFill>
              </a:defRPr>
            </a:pPr>
            <a:r>
              <a:rPr sz="1800" b="0">
                <a:solidFill>
                  <a:srgbClr val="DCE2E6"/>
                </a:solidFill>
              </a:rPr>
              <a:t>Web Audio changes music with the action.</a:t>
            </a:r>
          </a:p>
        </p:txBody>
      </p:sp>
    </p:spTree>
    <p:extLst>
      <p:ext uri="{BB962C8B-B14F-4D97-AF65-F5344CB8AC3E}">
        <p14:creationId xmlns:p14="http://schemas.microsoft.com/office/powerpoint/2010/main" val="1898484006"/>
      </p:ext>
    </p:extLst>
  </p:cSld>
</p:sld>
</file>

<file path=ppt/slides/slide3.xml><?xml version="1.0" encoding="utf-8"?>
<p:sld xmlns:p="http://schemas.openxmlformats.org/presentationml/2006/main">
  <p:cSld>
    <p:bg>
      <p:bgPr>
        <a:solidFill xmlns:a="http://schemas.openxmlformats.org/drawingml/2006/main">
          <a:srgbClr val="0B0D12"/>
        </a:solidFill>
      </p:bgPr>
    </p:bg>
    <p:spTree>
      <p:nvGrpSpPr>
        <p:cNvPr id="1" name=""/>
        <p:cNvGrpSpPr/>
        <p:nvPr/>
      </p:nvGrpSpPr>
      <p:grpSpPr>
        <a:xfrm xmlns:a="http://schemas.openxmlformats.org/drawingml/2006/main"/>
      </p:grpSpPr>
      <p:sp>
        <p:nvSpPr>
          <p:cNvPr id="2" name="Slide title">
            <a:extLst xmlns:a="http://schemas.openxmlformats.org/drawingml/2006/main">
              <a:ext uri="{FF2B5EF4-FFF2-40B4-BE49-F238E27FC236}">
                <a16:creationId xmlns:a16="http://schemas.microsoft.com/office/drawing/2014/main" id="{05A93031-024D-4596-8097-2E095E5FAE07}"/>
              </a:ext>
            </a:extLst>
          </p:cNvPr>
          <p:cNvSpPr>
            <a:spLocks xmlns:a="http://schemas.openxmlformats.org/drawingml/2006/main" noGrp="1"/>
          </p:cNvSpPr>
          <p:nvPr/>
        </p:nvSpPr>
        <p:spPr>
          <a:xfrm xmlns:a="http://schemas.openxmlformats.org/drawingml/2006/main">
            <a:off x="609600" y="457200"/>
            <a:ext cx="10972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750" b="1">
                <a:solidFill>
                  <a:srgbClr val="F0E2CA"/>
                </a:solidFill>
              </a:defRPr>
            </a:defPPr>
            <a:lvl1pPr algn="l">
              <a:defRPr sz="3750" b="1">
                <a:solidFill>
                  <a:srgbClr val="F0E2CA"/>
                </a:solidFill>
              </a:defRPr>
            </a:lvl1pPr>
            <a:lvl2pPr algn="l">
              <a:defRPr sz="3750" b="1">
                <a:solidFill>
                  <a:srgbClr val="F0E2CA"/>
                </a:solidFill>
              </a:defRPr>
            </a:lvl2pPr>
            <a:lvl3pPr algn="l">
              <a:defRPr sz="3750" b="1">
                <a:solidFill>
                  <a:srgbClr val="F0E2CA"/>
                </a:solidFill>
              </a:defRPr>
            </a:lvl3pPr>
            <a:lvl4pPr algn="l">
              <a:defRPr sz="3750" b="1">
                <a:solidFill>
                  <a:srgbClr val="F0E2CA"/>
                </a:solidFill>
              </a:defRPr>
            </a:lvl4pPr>
            <a:lvl5pPr algn="l">
              <a:defRPr sz="3750" b="1">
                <a:solidFill>
                  <a:srgbClr val="F0E2CA"/>
                </a:solidFill>
              </a:defRPr>
            </a:lvl5pPr>
            <a:lvl6pPr algn="l">
              <a:defRPr sz="3750" b="1">
                <a:solidFill>
                  <a:srgbClr val="F0E2CA"/>
                </a:solidFill>
              </a:defRPr>
            </a:lvl6pPr>
            <a:lvl7pPr algn="l">
              <a:defRPr sz="3750" b="1">
                <a:solidFill>
                  <a:srgbClr val="F0E2CA"/>
                </a:solidFill>
              </a:defRPr>
            </a:lvl7pPr>
            <a:lvl8pPr algn="l">
              <a:defRPr sz="3750" b="1">
                <a:solidFill>
                  <a:srgbClr val="F0E2CA"/>
                </a:solidFill>
              </a:defRPr>
            </a:lvl8pPr>
            <a:lvl9pPr algn="l">
              <a:defRPr sz="3750" b="1">
                <a:solidFill>
                  <a:srgbClr val="F0E2CA"/>
                </a:solidFill>
              </a:defRPr>
            </a:lvl9pPr>
          </a:lstStyle>
          <a:p xmlns:a="http://schemas.openxmlformats.org/drawingml/2006/main">
            <a:pPr algn="l">
              <a:defRPr sz="3750" b="1">
                <a:solidFill>
                  <a:srgbClr val="F0E2CA"/>
                </a:solidFill>
              </a:defRPr>
            </a:pPr>
            <a:r>
              <a:rPr sz="3750" b="1">
                <a:solidFill>
                  <a:srgbClr val="F0E2CA"/>
                </a:solidFill>
              </a:rPr>
              <a:t>CSP dungeon generation</a:t>
            </a:r>
          </a:p>
        </p:txBody>
      </p:sp>
      <p:sp>
        <p:nvSpPr>
          <p:cNvPr id="3" name="Page number">
            <a:extLst xmlns:a="http://schemas.openxmlformats.org/drawingml/2006/main">
              <a:ext uri="{FF2B5EF4-FFF2-40B4-BE49-F238E27FC236}">
                <a16:creationId xmlns:a16="http://schemas.microsoft.com/office/drawing/2014/main" id="{3D73D112-578D-40B3-AD87-106419D4AF55}"/>
              </a:ext>
            </a:extLst>
          </p:cNvPr>
          <p:cNvSpPr>
            <a:spLocks xmlns:a="http://schemas.openxmlformats.org/drawingml/2006/main" noGrp="1"/>
          </p:cNvSpPr>
          <p:nvPr/>
        </p:nvSpPr>
        <p:spPr>
          <a:xfrm xmlns:a="http://schemas.openxmlformats.org/drawingml/2006/main">
            <a:off x="11144250" y="641985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0">
                <a:solidFill>
                  <a:srgbClr val="AAB8C1"/>
                </a:solidFill>
              </a:defRPr>
            </a:defPPr>
            <a:lvl1pPr algn="l">
              <a:defRPr sz="1500" b="0">
                <a:solidFill>
                  <a:srgbClr val="AAB8C1"/>
                </a:solidFill>
              </a:defRPr>
            </a:lvl1pPr>
            <a:lvl2pPr algn="l">
              <a:defRPr sz="1500" b="0">
                <a:solidFill>
                  <a:srgbClr val="AAB8C1"/>
                </a:solidFill>
              </a:defRPr>
            </a:lvl2pPr>
            <a:lvl3pPr algn="l">
              <a:defRPr sz="1500" b="0">
                <a:solidFill>
                  <a:srgbClr val="AAB8C1"/>
                </a:solidFill>
              </a:defRPr>
            </a:lvl3pPr>
            <a:lvl4pPr algn="l">
              <a:defRPr sz="1500" b="0">
                <a:solidFill>
                  <a:srgbClr val="AAB8C1"/>
                </a:solidFill>
              </a:defRPr>
            </a:lvl4pPr>
            <a:lvl5pPr algn="l">
              <a:defRPr sz="1500" b="0">
                <a:solidFill>
                  <a:srgbClr val="AAB8C1"/>
                </a:solidFill>
              </a:defRPr>
            </a:lvl5pPr>
            <a:lvl6pPr algn="l">
              <a:defRPr sz="1500" b="0">
                <a:solidFill>
                  <a:srgbClr val="AAB8C1"/>
                </a:solidFill>
              </a:defRPr>
            </a:lvl6pPr>
            <a:lvl7pPr algn="l">
              <a:defRPr sz="1500" b="0">
                <a:solidFill>
                  <a:srgbClr val="AAB8C1"/>
                </a:solidFill>
              </a:defRPr>
            </a:lvl7pPr>
            <a:lvl8pPr algn="l">
              <a:defRPr sz="1500" b="0">
                <a:solidFill>
                  <a:srgbClr val="AAB8C1"/>
                </a:solidFill>
              </a:defRPr>
            </a:lvl8pPr>
            <a:lvl9pPr algn="l">
              <a:defRPr sz="1500" b="0">
                <a:solidFill>
                  <a:srgbClr val="AAB8C1"/>
                </a:solidFill>
              </a:defRPr>
            </a:lvl9pPr>
          </a:lstStyle>
          <a:p xmlns:a="http://schemas.openxmlformats.org/drawingml/2006/main">
            <a:pPr algn="l">
              <a:defRPr sz="1500" b="0">
                <a:solidFill>
                  <a:srgbClr val="AAB8C1"/>
                </a:solidFill>
              </a:defRPr>
            </a:pPr>
            <a:r>
              <a:rPr sz="1500" b="0">
                <a:solidFill>
                  <a:srgbClr val="AAB8C1"/>
                </a:solidFill>
              </a:rPr>
              <a:t>03</a:t>
            </a:r>
          </a:p>
        </p:txBody>
      </p:sp>
      <p:sp>
        <p:nvSpPr>
          <p:cNvPr id="4" name="Course week">
            <a:extLst xmlns:a="http://schemas.openxmlformats.org/drawingml/2006/main">
              <a:ext uri="{FF2B5EF4-FFF2-40B4-BE49-F238E27FC236}">
                <a16:creationId xmlns:a16="http://schemas.microsoft.com/office/drawing/2014/main" id="{3728402C-B90C-40D8-A198-C6E579936A70}"/>
              </a:ext>
            </a:extLst>
          </p:cNvPr>
          <p:cNvSpPr>
            <a:spLocks xmlns:a="http://schemas.openxmlformats.org/drawingml/2006/main" noGrp="1"/>
          </p:cNvSpPr>
          <p:nvPr/>
        </p:nvSpPr>
        <p:spPr>
          <a:xfrm xmlns:a="http://schemas.openxmlformats.org/drawingml/2006/main">
            <a:off x="609600" y="1285875"/>
            <a:ext cx="57150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950" b="1">
                <a:solidFill>
                  <a:srgbClr val="FFC16A"/>
                </a:solidFill>
              </a:defRPr>
            </a:defPPr>
            <a:lvl1pPr algn="l">
              <a:defRPr sz="1950" b="1">
                <a:solidFill>
                  <a:srgbClr val="FFC16A"/>
                </a:solidFill>
              </a:defRPr>
            </a:lvl1pPr>
            <a:lvl2pPr algn="l">
              <a:defRPr sz="1950" b="1">
                <a:solidFill>
                  <a:srgbClr val="FFC16A"/>
                </a:solidFill>
              </a:defRPr>
            </a:lvl2pPr>
            <a:lvl3pPr algn="l">
              <a:defRPr sz="1950" b="1">
                <a:solidFill>
                  <a:srgbClr val="FFC16A"/>
                </a:solidFill>
              </a:defRPr>
            </a:lvl3pPr>
            <a:lvl4pPr algn="l">
              <a:defRPr sz="1950" b="1">
                <a:solidFill>
                  <a:srgbClr val="FFC16A"/>
                </a:solidFill>
              </a:defRPr>
            </a:lvl4pPr>
            <a:lvl5pPr algn="l">
              <a:defRPr sz="1950" b="1">
                <a:solidFill>
                  <a:srgbClr val="FFC16A"/>
                </a:solidFill>
              </a:defRPr>
            </a:lvl5pPr>
            <a:lvl6pPr algn="l">
              <a:defRPr sz="1950" b="1">
                <a:solidFill>
                  <a:srgbClr val="FFC16A"/>
                </a:solidFill>
              </a:defRPr>
            </a:lvl6pPr>
            <a:lvl7pPr algn="l">
              <a:defRPr sz="1950" b="1">
                <a:solidFill>
                  <a:srgbClr val="FFC16A"/>
                </a:solidFill>
              </a:defRPr>
            </a:lvl7pPr>
            <a:lvl8pPr algn="l">
              <a:defRPr sz="1950" b="1">
                <a:solidFill>
                  <a:srgbClr val="FFC16A"/>
                </a:solidFill>
              </a:defRPr>
            </a:lvl8pPr>
            <a:lvl9pPr algn="l">
              <a:defRPr sz="1950" b="1">
                <a:solidFill>
                  <a:srgbClr val="FFC16A"/>
                </a:solidFill>
              </a:defRPr>
            </a:lvl9pPr>
          </a:lstStyle>
          <a:p xmlns:a="http://schemas.openxmlformats.org/drawingml/2006/main">
            <a:pPr algn="l">
              <a:defRPr sz="1950" b="1">
                <a:solidFill>
                  <a:srgbClr val="FFC16A"/>
                </a:solidFill>
              </a:defRPr>
            </a:pPr>
            <a:r>
              <a:rPr sz="1950" b="1">
                <a:solidFill>
                  <a:srgbClr val="FFC16A"/>
                </a:solidFill>
              </a:rPr>
              <a:t>Week 3  Constraint satisfaction</a:t>
            </a:r>
          </a:p>
        </p:txBody>
      </p:sp>
      <p:sp>
        <p:nvSpPr>
          <p:cNvPr id="5" name="Inputs heading">
            <a:extLst xmlns:a="http://schemas.openxmlformats.org/drawingml/2006/main">
              <a:ext uri="{FF2B5EF4-FFF2-40B4-BE49-F238E27FC236}">
                <a16:creationId xmlns:a16="http://schemas.microsoft.com/office/drawing/2014/main" id="{A4F4B57D-8707-4560-B832-AD590BD362C9}"/>
              </a:ext>
            </a:extLst>
          </p:cNvPr>
          <p:cNvSpPr>
            <a:spLocks xmlns:a="http://schemas.openxmlformats.org/drawingml/2006/main" noGrp="1"/>
          </p:cNvSpPr>
          <p:nvPr/>
        </p:nvSpPr>
        <p:spPr>
          <a:xfrm xmlns:a="http://schemas.openxmlformats.org/drawingml/2006/main">
            <a:off x="609600" y="1905000"/>
            <a:ext cx="527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00" b="1">
                <a:solidFill>
                  <a:srgbClr val="F0E2CA"/>
                </a:solidFill>
              </a:defRPr>
            </a:defPPr>
            <a:lvl1pPr algn="l">
              <a:defRPr sz="2100" b="1">
                <a:solidFill>
                  <a:srgbClr val="F0E2CA"/>
                </a:solidFill>
              </a:defRPr>
            </a:lvl1pPr>
            <a:lvl2pPr algn="l">
              <a:defRPr sz="2100" b="1">
                <a:solidFill>
                  <a:srgbClr val="F0E2CA"/>
                </a:solidFill>
              </a:defRPr>
            </a:lvl2pPr>
            <a:lvl3pPr algn="l">
              <a:defRPr sz="2100" b="1">
                <a:solidFill>
                  <a:srgbClr val="F0E2CA"/>
                </a:solidFill>
              </a:defRPr>
            </a:lvl3pPr>
            <a:lvl4pPr algn="l">
              <a:defRPr sz="2100" b="1">
                <a:solidFill>
                  <a:srgbClr val="F0E2CA"/>
                </a:solidFill>
              </a:defRPr>
            </a:lvl4pPr>
            <a:lvl5pPr algn="l">
              <a:defRPr sz="2100" b="1">
                <a:solidFill>
                  <a:srgbClr val="F0E2CA"/>
                </a:solidFill>
              </a:defRPr>
            </a:lvl5pPr>
            <a:lvl6pPr algn="l">
              <a:defRPr sz="2100" b="1">
                <a:solidFill>
                  <a:srgbClr val="F0E2CA"/>
                </a:solidFill>
              </a:defRPr>
            </a:lvl6pPr>
            <a:lvl7pPr algn="l">
              <a:defRPr sz="2100" b="1">
                <a:solidFill>
                  <a:srgbClr val="F0E2CA"/>
                </a:solidFill>
              </a:defRPr>
            </a:lvl7pPr>
            <a:lvl8pPr algn="l">
              <a:defRPr sz="2100" b="1">
                <a:solidFill>
                  <a:srgbClr val="F0E2CA"/>
                </a:solidFill>
              </a:defRPr>
            </a:lvl8pPr>
            <a:lvl9pPr algn="l">
              <a:defRPr sz="2100" b="1">
                <a:solidFill>
                  <a:srgbClr val="F0E2CA"/>
                </a:solidFill>
              </a:defRPr>
            </a:lvl9pPr>
          </a:lstStyle>
          <a:p xmlns:a="http://schemas.openxmlformats.org/drawingml/2006/main">
            <a:pPr algn="l">
              <a:defRPr sz="2100" b="1">
                <a:solidFill>
                  <a:srgbClr val="F0E2CA"/>
                </a:solidFill>
              </a:defRPr>
            </a:pPr>
            <a:r>
              <a:rPr sz="2100" b="1">
                <a:solidFill>
                  <a:srgbClr val="F0E2CA"/>
                </a:solidFill>
              </a:rPr>
              <a:t>Inputs</a:t>
            </a:r>
          </a:p>
        </p:txBody>
      </p:sp>
      <p:sp>
        <p:nvSpPr>
          <p:cNvPr id="6" name="Inputs">
            <a:extLst xmlns:a="http://schemas.openxmlformats.org/drawingml/2006/main">
              <a:ext uri="{FF2B5EF4-FFF2-40B4-BE49-F238E27FC236}">
                <a16:creationId xmlns:a16="http://schemas.microsoft.com/office/drawing/2014/main" id="{917BA6D1-C9D9-46C5-9ED2-4BBBFB0C8FBA}"/>
              </a:ext>
            </a:extLst>
          </p:cNvPr>
          <p:cNvSpPr>
            <a:spLocks xmlns:a="http://schemas.openxmlformats.org/drawingml/2006/main" noGrp="1"/>
          </p:cNvSpPr>
          <p:nvPr/>
        </p:nvSpPr>
        <p:spPr>
          <a:xfrm xmlns:a="http://schemas.openxmlformats.org/drawingml/2006/main">
            <a:off x="609600" y="2333625"/>
            <a:ext cx="52768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DCE2E6"/>
                </a:solidFill>
              </a:defRPr>
            </a:defPPr>
            <a:lvl1pPr algn="l">
              <a:defRPr sz="1800" b="0">
                <a:solidFill>
                  <a:srgbClr val="DCE2E6"/>
                </a:solidFill>
              </a:defRPr>
            </a:lvl1pPr>
            <a:lvl2pPr algn="l">
              <a:defRPr sz="1800" b="0">
                <a:solidFill>
                  <a:srgbClr val="DCE2E6"/>
                </a:solidFill>
              </a:defRPr>
            </a:lvl2pPr>
            <a:lvl3pPr algn="l">
              <a:defRPr sz="1800" b="0">
                <a:solidFill>
                  <a:srgbClr val="DCE2E6"/>
                </a:solidFill>
              </a:defRPr>
            </a:lvl3pPr>
            <a:lvl4pPr algn="l">
              <a:defRPr sz="1800" b="0">
                <a:solidFill>
                  <a:srgbClr val="DCE2E6"/>
                </a:solidFill>
              </a:defRPr>
            </a:lvl4pPr>
            <a:lvl5pPr algn="l">
              <a:defRPr sz="1800" b="0">
                <a:solidFill>
                  <a:srgbClr val="DCE2E6"/>
                </a:solidFill>
              </a:defRPr>
            </a:lvl5pPr>
            <a:lvl6pPr algn="l">
              <a:defRPr sz="1800" b="0">
                <a:solidFill>
                  <a:srgbClr val="DCE2E6"/>
                </a:solidFill>
              </a:defRPr>
            </a:lvl6pPr>
            <a:lvl7pPr algn="l">
              <a:defRPr sz="1800" b="0">
                <a:solidFill>
                  <a:srgbClr val="DCE2E6"/>
                </a:solidFill>
              </a:defRPr>
            </a:lvl7pPr>
            <a:lvl8pPr algn="l">
              <a:defRPr sz="1800" b="0">
                <a:solidFill>
                  <a:srgbClr val="DCE2E6"/>
                </a:solidFill>
              </a:defRPr>
            </a:lvl8pPr>
            <a:lvl9pPr algn="l">
              <a:defRPr sz="1800" b="0">
                <a:solidFill>
                  <a:srgbClr val="DCE2E6"/>
                </a:solidFill>
              </a:defRPr>
            </a:lvl9pPr>
          </a:lstStyle>
          <a:p xmlns:a="http://schemas.openxmlformats.org/drawingml/2006/main">
            <a:pPr algn="l">
              <a:defRPr sz="1800" b="0">
                <a:solidFill>
                  <a:srgbClr val="DCE2E6"/>
                </a:solidFill>
              </a:defRPr>
            </a:pPr>
            <a:r>
              <a:rPr sz="1800" b="0">
                <a:solidFill>
                  <a:srgbClr val="DCE2E6"/>
                </a:solidFill>
              </a:rPr>
              <a:t>Seed, map size, room count</a:t>
            </a:r>
          </a:p>
          <a:p xmlns:a="http://schemas.openxmlformats.org/drawingml/2006/main">
            <a:pPr algn="l">
              <a:defRPr sz="1800" b="0">
                <a:solidFill>
                  <a:srgbClr val="DCE2E6"/>
                </a:solidFill>
              </a:defRPr>
            </a:pPr>
            <a:r>
              <a:rPr sz="1800" b="0">
                <a:solidFill>
                  <a:srgbClr val="DCE2E6"/>
                </a:solidFill>
              </a:rPr>
              <a:t>and minimum separation.</a:t>
            </a:r>
          </a:p>
        </p:txBody>
      </p:sp>
      <p:sp>
        <p:nvSpPr>
          <p:cNvPr id="7" name="Method heading">
            <a:extLst xmlns:a="http://schemas.openxmlformats.org/drawingml/2006/main">
              <a:ext uri="{FF2B5EF4-FFF2-40B4-BE49-F238E27FC236}">
                <a16:creationId xmlns:a16="http://schemas.microsoft.com/office/drawing/2014/main" id="{34F09EC4-7834-4946-956D-DC243901C889}"/>
              </a:ext>
            </a:extLst>
          </p:cNvPr>
          <p:cNvSpPr>
            <a:spLocks xmlns:a="http://schemas.openxmlformats.org/drawingml/2006/main" noGrp="1"/>
          </p:cNvSpPr>
          <p:nvPr/>
        </p:nvSpPr>
        <p:spPr>
          <a:xfrm xmlns:a="http://schemas.openxmlformats.org/drawingml/2006/main">
            <a:off x="609600" y="3333750"/>
            <a:ext cx="527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00" b="1">
                <a:solidFill>
                  <a:srgbClr val="F0E2CA"/>
                </a:solidFill>
              </a:defRPr>
            </a:defPPr>
            <a:lvl1pPr algn="l">
              <a:defRPr sz="2100" b="1">
                <a:solidFill>
                  <a:srgbClr val="F0E2CA"/>
                </a:solidFill>
              </a:defRPr>
            </a:lvl1pPr>
            <a:lvl2pPr algn="l">
              <a:defRPr sz="2100" b="1">
                <a:solidFill>
                  <a:srgbClr val="F0E2CA"/>
                </a:solidFill>
              </a:defRPr>
            </a:lvl2pPr>
            <a:lvl3pPr algn="l">
              <a:defRPr sz="2100" b="1">
                <a:solidFill>
                  <a:srgbClr val="F0E2CA"/>
                </a:solidFill>
              </a:defRPr>
            </a:lvl3pPr>
            <a:lvl4pPr algn="l">
              <a:defRPr sz="2100" b="1">
                <a:solidFill>
                  <a:srgbClr val="F0E2CA"/>
                </a:solidFill>
              </a:defRPr>
            </a:lvl4pPr>
            <a:lvl5pPr algn="l">
              <a:defRPr sz="2100" b="1">
                <a:solidFill>
                  <a:srgbClr val="F0E2CA"/>
                </a:solidFill>
              </a:defRPr>
            </a:lvl5pPr>
            <a:lvl6pPr algn="l">
              <a:defRPr sz="2100" b="1">
                <a:solidFill>
                  <a:srgbClr val="F0E2CA"/>
                </a:solidFill>
              </a:defRPr>
            </a:lvl6pPr>
            <a:lvl7pPr algn="l">
              <a:defRPr sz="2100" b="1">
                <a:solidFill>
                  <a:srgbClr val="F0E2CA"/>
                </a:solidFill>
              </a:defRPr>
            </a:lvl7pPr>
            <a:lvl8pPr algn="l">
              <a:defRPr sz="2100" b="1">
                <a:solidFill>
                  <a:srgbClr val="F0E2CA"/>
                </a:solidFill>
              </a:defRPr>
            </a:lvl8pPr>
            <a:lvl9pPr algn="l">
              <a:defRPr sz="2100" b="1">
                <a:solidFill>
                  <a:srgbClr val="F0E2CA"/>
                </a:solidFill>
              </a:defRPr>
            </a:lvl9pPr>
          </a:lstStyle>
          <a:p xmlns:a="http://schemas.openxmlformats.org/drawingml/2006/main">
            <a:pPr algn="l">
              <a:defRPr sz="2100" b="1">
                <a:solidFill>
                  <a:srgbClr val="F0E2CA"/>
                </a:solidFill>
              </a:defRPr>
            </a:pPr>
            <a:r>
              <a:rPr sz="2100" b="1">
                <a:solidFill>
                  <a:srgbClr val="F0E2CA"/>
                </a:solidFill>
              </a:rPr>
              <a:t>Method</a:t>
            </a:r>
          </a:p>
        </p:txBody>
      </p:sp>
      <p:sp>
        <p:nvSpPr>
          <p:cNvPr id="8" name="Method">
            <a:extLst xmlns:a="http://schemas.openxmlformats.org/drawingml/2006/main">
              <a:ext uri="{FF2B5EF4-FFF2-40B4-BE49-F238E27FC236}">
                <a16:creationId xmlns:a16="http://schemas.microsoft.com/office/drawing/2014/main" id="{EA59E860-DB5C-471C-B54B-23D8A132CB60}"/>
              </a:ext>
            </a:extLst>
          </p:cNvPr>
          <p:cNvSpPr>
            <a:spLocks xmlns:a="http://schemas.openxmlformats.org/drawingml/2006/main" noGrp="1"/>
          </p:cNvSpPr>
          <p:nvPr/>
        </p:nvSpPr>
        <p:spPr>
          <a:xfrm xmlns:a="http://schemas.openxmlformats.org/drawingml/2006/main">
            <a:off x="609600" y="3762375"/>
            <a:ext cx="52768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DCE2E6"/>
                </a:solidFill>
              </a:defRPr>
            </a:defPPr>
            <a:lvl1pPr algn="l">
              <a:defRPr sz="1800" b="0">
                <a:solidFill>
                  <a:srgbClr val="DCE2E6"/>
                </a:solidFill>
              </a:defRPr>
            </a:lvl1pPr>
            <a:lvl2pPr algn="l">
              <a:defRPr sz="1800" b="0">
                <a:solidFill>
                  <a:srgbClr val="DCE2E6"/>
                </a:solidFill>
              </a:defRPr>
            </a:lvl2pPr>
            <a:lvl3pPr algn="l">
              <a:defRPr sz="1800" b="0">
                <a:solidFill>
                  <a:srgbClr val="DCE2E6"/>
                </a:solidFill>
              </a:defRPr>
            </a:lvl3pPr>
            <a:lvl4pPr algn="l">
              <a:defRPr sz="1800" b="0">
                <a:solidFill>
                  <a:srgbClr val="DCE2E6"/>
                </a:solidFill>
              </a:defRPr>
            </a:lvl4pPr>
            <a:lvl5pPr algn="l">
              <a:defRPr sz="1800" b="0">
                <a:solidFill>
                  <a:srgbClr val="DCE2E6"/>
                </a:solidFill>
              </a:defRPr>
            </a:lvl5pPr>
            <a:lvl6pPr algn="l">
              <a:defRPr sz="1800" b="0">
                <a:solidFill>
                  <a:srgbClr val="DCE2E6"/>
                </a:solidFill>
              </a:defRPr>
            </a:lvl6pPr>
            <a:lvl7pPr algn="l">
              <a:defRPr sz="1800" b="0">
                <a:solidFill>
                  <a:srgbClr val="DCE2E6"/>
                </a:solidFill>
              </a:defRPr>
            </a:lvl7pPr>
            <a:lvl8pPr algn="l">
              <a:defRPr sz="1800" b="0">
                <a:solidFill>
                  <a:srgbClr val="DCE2E6"/>
                </a:solidFill>
              </a:defRPr>
            </a:lvl8pPr>
            <a:lvl9pPr algn="l">
              <a:defRPr sz="1800" b="0">
                <a:solidFill>
                  <a:srgbClr val="DCE2E6"/>
                </a:solidFill>
              </a:defRPr>
            </a:lvl9pPr>
          </a:lstStyle>
          <a:p xmlns:a="http://schemas.openxmlformats.org/drawingml/2006/main">
            <a:pPr algn="l">
              <a:defRPr sz="1800" b="0">
                <a:solidFill>
                  <a:srgbClr val="DCE2E6"/>
                </a:solidFill>
              </a:defRPr>
            </a:pPr>
            <a:r>
              <a:rPr sz="1800" b="0">
                <a:solidFill>
                  <a:srgbClr val="DCE2E6"/>
                </a:solidFill>
              </a:rPr>
              <a:t>Assign a room and check the rules.</a:t>
            </a:r>
          </a:p>
          <a:p xmlns:a="http://schemas.openxmlformats.org/drawingml/2006/main">
            <a:pPr algn="l">
              <a:defRPr sz="1800" b="0">
                <a:solidFill>
                  <a:srgbClr val="DCE2E6"/>
                </a:solidFill>
              </a:defRPr>
            </a:pPr>
            <a:r>
              <a:rPr sz="1800" b="0">
                <a:solidFill>
                  <a:srgbClr val="DCE2E6"/>
                </a:solidFill>
              </a:rPr>
              <a:t>Undo a choice when its branch fails.</a:t>
            </a:r>
          </a:p>
        </p:txBody>
      </p:sp>
      <p:sp>
        <p:nvSpPr>
          <p:cNvPr id="9" name="Output heading">
            <a:extLst xmlns:a="http://schemas.openxmlformats.org/drawingml/2006/main">
              <a:ext uri="{FF2B5EF4-FFF2-40B4-BE49-F238E27FC236}">
                <a16:creationId xmlns:a16="http://schemas.microsoft.com/office/drawing/2014/main" id="{86031A1D-55BD-4071-95F0-B26DF250C08F}"/>
              </a:ext>
            </a:extLst>
          </p:cNvPr>
          <p:cNvSpPr>
            <a:spLocks xmlns:a="http://schemas.openxmlformats.org/drawingml/2006/main" noGrp="1"/>
          </p:cNvSpPr>
          <p:nvPr/>
        </p:nvSpPr>
        <p:spPr>
          <a:xfrm xmlns:a="http://schemas.openxmlformats.org/drawingml/2006/main">
            <a:off x="609600" y="4810125"/>
            <a:ext cx="527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00" b="1">
                <a:solidFill>
                  <a:srgbClr val="F0E2CA"/>
                </a:solidFill>
              </a:defRPr>
            </a:defPPr>
            <a:lvl1pPr algn="l">
              <a:defRPr sz="2100" b="1">
                <a:solidFill>
                  <a:srgbClr val="F0E2CA"/>
                </a:solidFill>
              </a:defRPr>
            </a:lvl1pPr>
            <a:lvl2pPr algn="l">
              <a:defRPr sz="2100" b="1">
                <a:solidFill>
                  <a:srgbClr val="F0E2CA"/>
                </a:solidFill>
              </a:defRPr>
            </a:lvl2pPr>
            <a:lvl3pPr algn="l">
              <a:defRPr sz="2100" b="1">
                <a:solidFill>
                  <a:srgbClr val="F0E2CA"/>
                </a:solidFill>
              </a:defRPr>
            </a:lvl3pPr>
            <a:lvl4pPr algn="l">
              <a:defRPr sz="2100" b="1">
                <a:solidFill>
                  <a:srgbClr val="F0E2CA"/>
                </a:solidFill>
              </a:defRPr>
            </a:lvl4pPr>
            <a:lvl5pPr algn="l">
              <a:defRPr sz="2100" b="1">
                <a:solidFill>
                  <a:srgbClr val="F0E2CA"/>
                </a:solidFill>
              </a:defRPr>
            </a:lvl5pPr>
            <a:lvl6pPr algn="l">
              <a:defRPr sz="2100" b="1">
                <a:solidFill>
                  <a:srgbClr val="F0E2CA"/>
                </a:solidFill>
              </a:defRPr>
            </a:lvl6pPr>
            <a:lvl7pPr algn="l">
              <a:defRPr sz="2100" b="1">
                <a:solidFill>
                  <a:srgbClr val="F0E2CA"/>
                </a:solidFill>
              </a:defRPr>
            </a:lvl7pPr>
            <a:lvl8pPr algn="l">
              <a:defRPr sz="2100" b="1">
                <a:solidFill>
                  <a:srgbClr val="F0E2CA"/>
                </a:solidFill>
              </a:defRPr>
            </a:lvl8pPr>
            <a:lvl9pPr algn="l">
              <a:defRPr sz="2100" b="1">
                <a:solidFill>
                  <a:srgbClr val="F0E2CA"/>
                </a:solidFill>
              </a:defRPr>
            </a:lvl9pPr>
          </a:lstStyle>
          <a:p xmlns:a="http://schemas.openxmlformats.org/drawingml/2006/main">
            <a:pPr algn="l">
              <a:defRPr sz="2100" b="1">
                <a:solidFill>
                  <a:srgbClr val="F0E2CA"/>
                </a:solidFill>
              </a:defRPr>
            </a:pPr>
            <a:r>
              <a:rPr sz="2100" b="1">
                <a:solidFill>
                  <a:srgbClr val="F0E2CA"/>
                </a:solidFill>
              </a:rPr>
              <a:t>Output</a:t>
            </a:r>
          </a:p>
        </p:txBody>
      </p:sp>
      <p:sp>
        <p:nvSpPr>
          <p:cNvPr id="10" name="Output">
            <a:extLst xmlns:a="http://schemas.openxmlformats.org/drawingml/2006/main">
              <a:ext uri="{FF2B5EF4-FFF2-40B4-BE49-F238E27FC236}">
                <a16:creationId xmlns:a16="http://schemas.microsoft.com/office/drawing/2014/main" id="{BA1E30A2-E6AD-4A9E-95A4-47E81142515F}"/>
              </a:ext>
            </a:extLst>
          </p:cNvPr>
          <p:cNvSpPr>
            <a:spLocks xmlns:a="http://schemas.openxmlformats.org/drawingml/2006/main" noGrp="1"/>
          </p:cNvSpPr>
          <p:nvPr/>
        </p:nvSpPr>
        <p:spPr>
          <a:xfrm xmlns:a="http://schemas.openxmlformats.org/drawingml/2006/main">
            <a:off x="609600" y="5238750"/>
            <a:ext cx="52768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DCE2E6"/>
                </a:solidFill>
              </a:defRPr>
            </a:defPPr>
            <a:lvl1pPr algn="l">
              <a:defRPr sz="1800" b="0">
                <a:solidFill>
                  <a:srgbClr val="DCE2E6"/>
                </a:solidFill>
              </a:defRPr>
            </a:lvl1pPr>
            <a:lvl2pPr algn="l">
              <a:defRPr sz="1800" b="0">
                <a:solidFill>
                  <a:srgbClr val="DCE2E6"/>
                </a:solidFill>
              </a:defRPr>
            </a:lvl2pPr>
            <a:lvl3pPr algn="l">
              <a:defRPr sz="1800" b="0">
                <a:solidFill>
                  <a:srgbClr val="DCE2E6"/>
                </a:solidFill>
              </a:defRPr>
            </a:lvl3pPr>
            <a:lvl4pPr algn="l">
              <a:defRPr sz="1800" b="0">
                <a:solidFill>
                  <a:srgbClr val="DCE2E6"/>
                </a:solidFill>
              </a:defRPr>
            </a:lvl4pPr>
            <a:lvl5pPr algn="l">
              <a:defRPr sz="1800" b="0">
                <a:solidFill>
                  <a:srgbClr val="DCE2E6"/>
                </a:solidFill>
              </a:defRPr>
            </a:lvl5pPr>
            <a:lvl6pPr algn="l">
              <a:defRPr sz="1800" b="0">
                <a:solidFill>
                  <a:srgbClr val="DCE2E6"/>
                </a:solidFill>
              </a:defRPr>
            </a:lvl6pPr>
            <a:lvl7pPr algn="l">
              <a:defRPr sz="1800" b="0">
                <a:solidFill>
                  <a:srgbClr val="DCE2E6"/>
                </a:solidFill>
              </a:defRPr>
            </a:lvl7pPr>
            <a:lvl8pPr algn="l">
              <a:defRPr sz="1800" b="0">
                <a:solidFill>
                  <a:srgbClr val="DCE2E6"/>
                </a:solidFill>
              </a:defRPr>
            </a:lvl8pPr>
            <a:lvl9pPr algn="l">
              <a:defRPr sz="1800" b="0">
                <a:solidFill>
                  <a:srgbClr val="DCE2E6"/>
                </a:solidFill>
              </a:defRPr>
            </a:lvl9pPr>
          </a:lstStyle>
          <a:p xmlns:a="http://schemas.openxmlformats.org/drawingml/2006/main">
            <a:pPr algn="l">
              <a:defRPr sz="1800" b="0">
                <a:solidFill>
                  <a:srgbClr val="DCE2E6"/>
                </a:solidFill>
              </a:defRPr>
            </a:pPr>
            <a:r>
              <a:rPr sz="1800" b="0">
                <a:solidFill>
                  <a:srgbClr val="DCE2E6"/>
                </a:solidFill>
              </a:rPr>
              <a:t>Rooms, connecting corridors and a trace.</a:t>
            </a:r>
          </a:p>
          <a:p xmlns:a="http://schemas.openxmlformats.org/drawingml/2006/main">
            <a:pPr algn="l">
              <a:defRPr sz="1800" b="0">
                <a:solidFill>
                  <a:srgbClr val="DCE2E6"/>
                </a:solidFill>
              </a:defRPr>
            </a:pPr>
            <a:r>
              <a:rPr sz="1800" b="0">
                <a:solidFill>
                  <a:srgbClr val="DCE2E6"/>
                </a:solidFill>
              </a:rPr>
              <a:t>This example has eight reachable rooms.</a:t>
            </a:r>
          </a:p>
        </p:txBody>
      </p:sp>
      <p:pic>
        <p:nvPicPr>
          <p:cNvPr id="11" name="">
            <a:extLst xmlns:a="http://schemas.openxmlformats.org/drawingml/2006/main">
              <a:ext uri="{FF2B5EF4-FFF2-40B4-BE49-F238E27FC236}">
                <a16:creationId xmlns:a16="http://schemas.microsoft.com/office/drawing/2014/main" id="{A406B7C7-9FE0-452B-A55B-2DA5811EEB7A}"/>
              </a:ext>
            </a:extLst>
          </p:cNvPr>
          <p:cNvPicPr>
            <a:picLocks xmlns:a="http://schemas.openxmlformats.org/drawingml/2006/main" noChangeAspect="1"/>
          </p:cNvPicPr>
          <p:nvPr/>
        </p:nvPicPr>
        <p:blipFill>
          <a:blip xmlns:r="http://schemas.openxmlformats.org/officeDocument/2006/relationships" xmlns:a="http://schemas.openxmlformats.org/drawingml/2006/main" r:embed="R62ec6f6de8484b73"/>
          <a:srcRect xmlns:a="http://schemas.openxmlformats.org/drawingml/2006/main" l="22969" t="34028" r="46719" b="11806"/>
          <a:stretch xmlns:a="http://schemas.openxmlformats.org/drawingml/2006/main"/>
        </p:blipFill>
        <p:spPr>
          <a:xfrm xmlns:a="http://schemas.openxmlformats.org/drawingml/2006/main">
            <a:off x="6515100" y="1714500"/>
            <a:ext cx="4762500" cy="4533900"/>
          </a:xfrm>
          <a:prstGeom xmlns:a="http://schemas.openxmlformats.org/drawingml/2006/main" prst="rect">
            <a:avLst/>
          </a:prstGeom>
        </p:spPr>
      </p:pic>
      <p:sp>
        <p:nvSpPr>
          <p:cNvPr id="12" name="Algorithm limit">
            <a:extLst xmlns:a="http://schemas.openxmlformats.org/drawingml/2006/main">
              <a:ext uri="{FF2B5EF4-FFF2-40B4-BE49-F238E27FC236}">
                <a16:creationId xmlns:a16="http://schemas.microsoft.com/office/drawing/2014/main" id="{EF996D83-4563-467C-82ED-162BED42DFE8}"/>
              </a:ext>
            </a:extLst>
          </p:cNvPr>
          <p:cNvSpPr>
            <a:spLocks xmlns:a="http://schemas.openxmlformats.org/drawingml/2006/main" noGrp="1"/>
          </p:cNvSpPr>
          <p:nvPr/>
        </p:nvSpPr>
        <p:spPr>
          <a:xfrm xmlns:a="http://schemas.openxmlformats.org/drawingml/2006/main">
            <a:off x="609600" y="6419850"/>
            <a:ext cx="1000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0">
                <a:solidFill>
                  <a:srgbClr val="AAB8C1"/>
                </a:solidFill>
              </a:defRPr>
            </a:defPPr>
            <a:lvl1pPr algn="l">
              <a:defRPr sz="1500" b="0">
                <a:solidFill>
                  <a:srgbClr val="AAB8C1"/>
                </a:solidFill>
              </a:defRPr>
            </a:lvl1pPr>
            <a:lvl2pPr algn="l">
              <a:defRPr sz="1500" b="0">
                <a:solidFill>
                  <a:srgbClr val="AAB8C1"/>
                </a:solidFill>
              </a:defRPr>
            </a:lvl2pPr>
            <a:lvl3pPr algn="l">
              <a:defRPr sz="1500" b="0">
                <a:solidFill>
                  <a:srgbClr val="AAB8C1"/>
                </a:solidFill>
              </a:defRPr>
            </a:lvl3pPr>
            <a:lvl4pPr algn="l">
              <a:defRPr sz="1500" b="0">
                <a:solidFill>
                  <a:srgbClr val="AAB8C1"/>
                </a:solidFill>
              </a:defRPr>
            </a:lvl4pPr>
            <a:lvl5pPr algn="l">
              <a:defRPr sz="1500" b="0">
                <a:solidFill>
                  <a:srgbClr val="AAB8C1"/>
                </a:solidFill>
              </a:defRPr>
            </a:lvl5pPr>
            <a:lvl6pPr algn="l">
              <a:defRPr sz="1500" b="0">
                <a:solidFill>
                  <a:srgbClr val="AAB8C1"/>
                </a:solidFill>
              </a:defRPr>
            </a:lvl6pPr>
            <a:lvl7pPr algn="l">
              <a:defRPr sz="1500" b="0">
                <a:solidFill>
                  <a:srgbClr val="AAB8C1"/>
                </a:solidFill>
              </a:defRPr>
            </a:lvl7pPr>
            <a:lvl8pPr algn="l">
              <a:defRPr sz="1500" b="0">
                <a:solidFill>
                  <a:srgbClr val="AAB8C1"/>
                </a:solidFill>
              </a:defRPr>
            </a:lvl8pPr>
            <a:lvl9pPr algn="l">
              <a:defRPr sz="1500" b="0">
                <a:solidFill>
                  <a:srgbClr val="AAB8C1"/>
                </a:solidFill>
              </a:defRPr>
            </a:lvl9pPr>
          </a:lstStyle>
          <a:p xmlns:a="http://schemas.openxmlformats.org/drawingml/2006/main">
            <a:pPr algn="l">
              <a:defRPr sz="1500" b="0">
                <a:solidFill>
                  <a:srgbClr val="AAB8C1"/>
                </a:solidFill>
              </a:defRPr>
            </a:pPr>
            <a:r>
              <a:rPr sz="1500" b="0">
                <a:solidFill>
                  <a:srgbClr val="AAB8C1"/>
                </a:solidFill>
              </a:rPr>
              <a:t>A search limit can trigger a fallback layout.</a:t>
            </a:r>
          </a:p>
        </p:txBody>
      </p:sp>
    </p:spTree>
    <p:extLst>
      <p:ext uri="{BB962C8B-B14F-4D97-AF65-F5344CB8AC3E}">
        <p14:creationId xmlns:p14="http://schemas.microsoft.com/office/powerpoint/2010/main" val="1219496579"/>
      </p:ext>
    </p:extLst>
  </p:cSld>
</p:sld>
</file>

<file path=ppt/slides/slide4.xml><?xml version="1.0" encoding="utf-8"?>
<p:sld xmlns:p="http://schemas.openxmlformats.org/presentationml/2006/main">
  <p:cSld>
    <p:bg>
      <p:bgPr>
        <a:solidFill xmlns:a="http://schemas.openxmlformats.org/drawingml/2006/main">
          <a:srgbClr val="0B0D12"/>
        </a:solidFill>
      </p:bgPr>
    </p:bg>
    <p:spTree>
      <p:nvGrpSpPr>
        <p:cNvPr id="1" name=""/>
        <p:cNvGrpSpPr/>
        <p:nvPr/>
      </p:nvGrpSpPr>
      <p:grpSpPr>
        <a:xfrm xmlns:a="http://schemas.openxmlformats.org/drawingml/2006/main"/>
      </p:grpSpPr>
      <p:sp>
        <p:nvSpPr>
          <p:cNvPr id="2" name="Slide title">
            <a:extLst xmlns:a="http://schemas.openxmlformats.org/drawingml/2006/main">
              <a:ext uri="{FF2B5EF4-FFF2-40B4-BE49-F238E27FC236}">
                <a16:creationId xmlns:a16="http://schemas.microsoft.com/office/drawing/2014/main" id="{79F2DDD8-F7C0-4903-B3E9-60540156D426}"/>
              </a:ext>
            </a:extLst>
          </p:cNvPr>
          <p:cNvSpPr>
            <a:spLocks xmlns:a="http://schemas.openxmlformats.org/drawingml/2006/main" noGrp="1"/>
          </p:cNvSpPr>
          <p:nvPr/>
        </p:nvSpPr>
        <p:spPr>
          <a:xfrm xmlns:a="http://schemas.openxmlformats.org/drawingml/2006/main">
            <a:off x="609600" y="457200"/>
            <a:ext cx="10972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750" b="1">
                <a:solidFill>
                  <a:srgbClr val="F0E2CA"/>
                </a:solidFill>
              </a:defRPr>
            </a:defPPr>
            <a:lvl1pPr algn="l">
              <a:defRPr sz="3750" b="1">
                <a:solidFill>
                  <a:srgbClr val="F0E2CA"/>
                </a:solidFill>
              </a:defRPr>
            </a:lvl1pPr>
            <a:lvl2pPr algn="l">
              <a:defRPr sz="3750" b="1">
                <a:solidFill>
                  <a:srgbClr val="F0E2CA"/>
                </a:solidFill>
              </a:defRPr>
            </a:lvl2pPr>
            <a:lvl3pPr algn="l">
              <a:defRPr sz="3750" b="1">
                <a:solidFill>
                  <a:srgbClr val="F0E2CA"/>
                </a:solidFill>
              </a:defRPr>
            </a:lvl3pPr>
            <a:lvl4pPr algn="l">
              <a:defRPr sz="3750" b="1">
                <a:solidFill>
                  <a:srgbClr val="F0E2CA"/>
                </a:solidFill>
              </a:defRPr>
            </a:lvl4pPr>
            <a:lvl5pPr algn="l">
              <a:defRPr sz="3750" b="1">
                <a:solidFill>
                  <a:srgbClr val="F0E2CA"/>
                </a:solidFill>
              </a:defRPr>
            </a:lvl5pPr>
            <a:lvl6pPr algn="l">
              <a:defRPr sz="3750" b="1">
                <a:solidFill>
                  <a:srgbClr val="F0E2CA"/>
                </a:solidFill>
              </a:defRPr>
            </a:lvl6pPr>
            <a:lvl7pPr algn="l">
              <a:defRPr sz="3750" b="1">
                <a:solidFill>
                  <a:srgbClr val="F0E2CA"/>
                </a:solidFill>
              </a:defRPr>
            </a:lvl7pPr>
            <a:lvl8pPr algn="l">
              <a:defRPr sz="3750" b="1">
                <a:solidFill>
                  <a:srgbClr val="F0E2CA"/>
                </a:solidFill>
              </a:defRPr>
            </a:lvl8pPr>
            <a:lvl9pPr algn="l">
              <a:defRPr sz="3750" b="1">
                <a:solidFill>
                  <a:srgbClr val="F0E2CA"/>
                </a:solidFill>
              </a:defRPr>
            </a:lvl9pPr>
          </a:lstStyle>
          <a:p xmlns:a="http://schemas.openxmlformats.org/drawingml/2006/main">
            <a:pPr algn="l">
              <a:defRPr sz="3750" b="1">
                <a:solidFill>
                  <a:srgbClr val="F0E2CA"/>
                </a:solidFill>
              </a:defRPr>
            </a:pPr>
            <a:r>
              <a:rPr sz="3750" b="1">
                <a:solidFill>
                  <a:srgbClr val="F0E2CA"/>
                </a:solidFill>
              </a:rPr>
              <a:t>A* pathfinding</a:t>
            </a:r>
          </a:p>
        </p:txBody>
      </p:sp>
      <p:sp>
        <p:nvSpPr>
          <p:cNvPr id="3" name="Page number">
            <a:extLst xmlns:a="http://schemas.openxmlformats.org/drawingml/2006/main">
              <a:ext uri="{FF2B5EF4-FFF2-40B4-BE49-F238E27FC236}">
                <a16:creationId xmlns:a16="http://schemas.microsoft.com/office/drawing/2014/main" id="{B7AA2620-F401-4F1C-8142-A2DA132D8ECD}"/>
              </a:ext>
            </a:extLst>
          </p:cNvPr>
          <p:cNvSpPr>
            <a:spLocks xmlns:a="http://schemas.openxmlformats.org/drawingml/2006/main" noGrp="1"/>
          </p:cNvSpPr>
          <p:nvPr/>
        </p:nvSpPr>
        <p:spPr>
          <a:xfrm xmlns:a="http://schemas.openxmlformats.org/drawingml/2006/main">
            <a:off x="11144250" y="641985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0">
                <a:solidFill>
                  <a:srgbClr val="AAB8C1"/>
                </a:solidFill>
              </a:defRPr>
            </a:defPPr>
            <a:lvl1pPr algn="l">
              <a:defRPr sz="1500" b="0">
                <a:solidFill>
                  <a:srgbClr val="AAB8C1"/>
                </a:solidFill>
              </a:defRPr>
            </a:lvl1pPr>
            <a:lvl2pPr algn="l">
              <a:defRPr sz="1500" b="0">
                <a:solidFill>
                  <a:srgbClr val="AAB8C1"/>
                </a:solidFill>
              </a:defRPr>
            </a:lvl2pPr>
            <a:lvl3pPr algn="l">
              <a:defRPr sz="1500" b="0">
                <a:solidFill>
                  <a:srgbClr val="AAB8C1"/>
                </a:solidFill>
              </a:defRPr>
            </a:lvl3pPr>
            <a:lvl4pPr algn="l">
              <a:defRPr sz="1500" b="0">
                <a:solidFill>
                  <a:srgbClr val="AAB8C1"/>
                </a:solidFill>
              </a:defRPr>
            </a:lvl4pPr>
            <a:lvl5pPr algn="l">
              <a:defRPr sz="1500" b="0">
                <a:solidFill>
                  <a:srgbClr val="AAB8C1"/>
                </a:solidFill>
              </a:defRPr>
            </a:lvl5pPr>
            <a:lvl6pPr algn="l">
              <a:defRPr sz="1500" b="0">
                <a:solidFill>
                  <a:srgbClr val="AAB8C1"/>
                </a:solidFill>
              </a:defRPr>
            </a:lvl6pPr>
            <a:lvl7pPr algn="l">
              <a:defRPr sz="1500" b="0">
                <a:solidFill>
                  <a:srgbClr val="AAB8C1"/>
                </a:solidFill>
              </a:defRPr>
            </a:lvl7pPr>
            <a:lvl8pPr algn="l">
              <a:defRPr sz="1500" b="0">
                <a:solidFill>
                  <a:srgbClr val="AAB8C1"/>
                </a:solidFill>
              </a:defRPr>
            </a:lvl8pPr>
            <a:lvl9pPr algn="l">
              <a:defRPr sz="1500" b="0">
                <a:solidFill>
                  <a:srgbClr val="AAB8C1"/>
                </a:solidFill>
              </a:defRPr>
            </a:lvl9pPr>
          </a:lstStyle>
          <a:p xmlns:a="http://schemas.openxmlformats.org/drawingml/2006/main">
            <a:pPr algn="l">
              <a:defRPr sz="1500" b="0">
                <a:solidFill>
                  <a:srgbClr val="AAB8C1"/>
                </a:solidFill>
              </a:defRPr>
            </a:pPr>
            <a:r>
              <a:rPr sz="1500" b="0">
                <a:solidFill>
                  <a:srgbClr val="AAB8C1"/>
                </a:solidFill>
              </a:rPr>
              <a:t>04</a:t>
            </a:r>
          </a:p>
        </p:txBody>
      </p:sp>
      <p:sp>
        <p:nvSpPr>
          <p:cNvPr id="4" name="Course week">
            <a:extLst xmlns:a="http://schemas.openxmlformats.org/drawingml/2006/main">
              <a:ext uri="{FF2B5EF4-FFF2-40B4-BE49-F238E27FC236}">
                <a16:creationId xmlns:a16="http://schemas.microsoft.com/office/drawing/2014/main" id="{ED513CEE-2993-4119-9BF8-45ED8BA8ADCB}"/>
              </a:ext>
            </a:extLst>
          </p:cNvPr>
          <p:cNvSpPr>
            <a:spLocks xmlns:a="http://schemas.openxmlformats.org/drawingml/2006/main" noGrp="1"/>
          </p:cNvSpPr>
          <p:nvPr/>
        </p:nvSpPr>
        <p:spPr>
          <a:xfrm xmlns:a="http://schemas.openxmlformats.org/drawingml/2006/main">
            <a:off x="609600" y="1285875"/>
            <a:ext cx="57150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950" b="1">
                <a:solidFill>
                  <a:srgbClr val="FFC16A"/>
                </a:solidFill>
              </a:defRPr>
            </a:defPPr>
            <a:lvl1pPr algn="l">
              <a:defRPr sz="1950" b="1">
                <a:solidFill>
                  <a:srgbClr val="FFC16A"/>
                </a:solidFill>
              </a:defRPr>
            </a:lvl1pPr>
            <a:lvl2pPr algn="l">
              <a:defRPr sz="1950" b="1">
                <a:solidFill>
                  <a:srgbClr val="FFC16A"/>
                </a:solidFill>
              </a:defRPr>
            </a:lvl2pPr>
            <a:lvl3pPr algn="l">
              <a:defRPr sz="1950" b="1">
                <a:solidFill>
                  <a:srgbClr val="FFC16A"/>
                </a:solidFill>
              </a:defRPr>
            </a:lvl3pPr>
            <a:lvl4pPr algn="l">
              <a:defRPr sz="1950" b="1">
                <a:solidFill>
                  <a:srgbClr val="FFC16A"/>
                </a:solidFill>
              </a:defRPr>
            </a:lvl4pPr>
            <a:lvl5pPr algn="l">
              <a:defRPr sz="1950" b="1">
                <a:solidFill>
                  <a:srgbClr val="FFC16A"/>
                </a:solidFill>
              </a:defRPr>
            </a:lvl5pPr>
            <a:lvl6pPr algn="l">
              <a:defRPr sz="1950" b="1">
                <a:solidFill>
                  <a:srgbClr val="FFC16A"/>
                </a:solidFill>
              </a:defRPr>
            </a:lvl6pPr>
            <a:lvl7pPr algn="l">
              <a:defRPr sz="1950" b="1">
                <a:solidFill>
                  <a:srgbClr val="FFC16A"/>
                </a:solidFill>
              </a:defRPr>
            </a:lvl7pPr>
            <a:lvl8pPr algn="l">
              <a:defRPr sz="1950" b="1">
                <a:solidFill>
                  <a:srgbClr val="FFC16A"/>
                </a:solidFill>
              </a:defRPr>
            </a:lvl8pPr>
            <a:lvl9pPr algn="l">
              <a:defRPr sz="1950" b="1">
                <a:solidFill>
                  <a:srgbClr val="FFC16A"/>
                </a:solidFill>
              </a:defRPr>
            </a:lvl9pPr>
          </a:lstStyle>
          <a:p xmlns:a="http://schemas.openxmlformats.org/drawingml/2006/main">
            <a:pPr algn="l">
              <a:defRPr sz="1950" b="1">
                <a:solidFill>
                  <a:srgbClr val="FFC16A"/>
                </a:solidFill>
              </a:defRPr>
            </a:pPr>
            <a:r>
              <a:rPr sz="1950" b="1">
                <a:solidFill>
                  <a:srgbClr val="FFC16A"/>
                </a:solidFill>
              </a:rPr>
              <a:t>Week 2  Search and heuristics</a:t>
            </a:r>
          </a:p>
        </p:txBody>
      </p:sp>
      <p:sp>
        <p:nvSpPr>
          <p:cNvPr id="5" name="Inputs heading">
            <a:extLst xmlns:a="http://schemas.openxmlformats.org/drawingml/2006/main">
              <a:ext uri="{FF2B5EF4-FFF2-40B4-BE49-F238E27FC236}">
                <a16:creationId xmlns:a16="http://schemas.microsoft.com/office/drawing/2014/main" id="{0103DB86-5E5C-4673-816F-17495286F74A}"/>
              </a:ext>
            </a:extLst>
          </p:cNvPr>
          <p:cNvSpPr>
            <a:spLocks xmlns:a="http://schemas.openxmlformats.org/drawingml/2006/main" noGrp="1"/>
          </p:cNvSpPr>
          <p:nvPr/>
        </p:nvSpPr>
        <p:spPr>
          <a:xfrm xmlns:a="http://schemas.openxmlformats.org/drawingml/2006/main">
            <a:off x="609600" y="1905000"/>
            <a:ext cx="495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00" b="1">
                <a:solidFill>
                  <a:srgbClr val="F0E2CA"/>
                </a:solidFill>
              </a:defRPr>
            </a:defPPr>
            <a:lvl1pPr algn="l">
              <a:defRPr sz="2100" b="1">
                <a:solidFill>
                  <a:srgbClr val="F0E2CA"/>
                </a:solidFill>
              </a:defRPr>
            </a:lvl1pPr>
            <a:lvl2pPr algn="l">
              <a:defRPr sz="2100" b="1">
                <a:solidFill>
                  <a:srgbClr val="F0E2CA"/>
                </a:solidFill>
              </a:defRPr>
            </a:lvl2pPr>
            <a:lvl3pPr algn="l">
              <a:defRPr sz="2100" b="1">
                <a:solidFill>
                  <a:srgbClr val="F0E2CA"/>
                </a:solidFill>
              </a:defRPr>
            </a:lvl3pPr>
            <a:lvl4pPr algn="l">
              <a:defRPr sz="2100" b="1">
                <a:solidFill>
                  <a:srgbClr val="F0E2CA"/>
                </a:solidFill>
              </a:defRPr>
            </a:lvl4pPr>
            <a:lvl5pPr algn="l">
              <a:defRPr sz="2100" b="1">
                <a:solidFill>
                  <a:srgbClr val="F0E2CA"/>
                </a:solidFill>
              </a:defRPr>
            </a:lvl5pPr>
            <a:lvl6pPr algn="l">
              <a:defRPr sz="2100" b="1">
                <a:solidFill>
                  <a:srgbClr val="F0E2CA"/>
                </a:solidFill>
              </a:defRPr>
            </a:lvl6pPr>
            <a:lvl7pPr algn="l">
              <a:defRPr sz="2100" b="1">
                <a:solidFill>
                  <a:srgbClr val="F0E2CA"/>
                </a:solidFill>
              </a:defRPr>
            </a:lvl7pPr>
            <a:lvl8pPr algn="l">
              <a:defRPr sz="2100" b="1">
                <a:solidFill>
                  <a:srgbClr val="F0E2CA"/>
                </a:solidFill>
              </a:defRPr>
            </a:lvl8pPr>
            <a:lvl9pPr algn="l">
              <a:defRPr sz="2100" b="1">
                <a:solidFill>
                  <a:srgbClr val="F0E2CA"/>
                </a:solidFill>
              </a:defRPr>
            </a:lvl9pPr>
          </a:lstStyle>
          <a:p xmlns:a="http://schemas.openxmlformats.org/drawingml/2006/main">
            <a:pPr algn="l">
              <a:defRPr sz="2100" b="1">
                <a:solidFill>
                  <a:srgbClr val="F0E2CA"/>
                </a:solidFill>
              </a:defRPr>
            </a:pPr>
            <a:r>
              <a:rPr sz="2100" b="1">
                <a:solidFill>
                  <a:srgbClr val="F0E2CA"/>
                </a:solidFill>
              </a:rPr>
              <a:t>Inputs</a:t>
            </a:r>
          </a:p>
        </p:txBody>
      </p:sp>
      <p:sp>
        <p:nvSpPr>
          <p:cNvPr id="6" name="Inputs">
            <a:extLst xmlns:a="http://schemas.openxmlformats.org/drawingml/2006/main">
              <a:ext uri="{FF2B5EF4-FFF2-40B4-BE49-F238E27FC236}">
                <a16:creationId xmlns:a16="http://schemas.microsoft.com/office/drawing/2014/main" id="{3C14D45A-4F32-4A39-BDAB-F7FE4F6E3CDE}"/>
              </a:ext>
            </a:extLst>
          </p:cNvPr>
          <p:cNvSpPr>
            <a:spLocks xmlns:a="http://schemas.openxmlformats.org/drawingml/2006/main" noGrp="1"/>
          </p:cNvSpPr>
          <p:nvPr/>
        </p:nvSpPr>
        <p:spPr>
          <a:xfrm xmlns:a="http://schemas.openxmlformats.org/drawingml/2006/main">
            <a:off x="609600" y="2333625"/>
            <a:ext cx="4953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DCE2E6"/>
                </a:solidFill>
              </a:defRPr>
            </a:defPPr>
            <a:lvl1pPr algn="l">
              <a:defRPr sz="1800" b="0">
                <a:solidFill>
                  <a:srgbClr val="DCE2E6"/>
                </a:solidFill>
              </a:defRPr>
            </a:lvl1pPr>
            <a:lvl2pPr algn="l">
              <a:defRPr sz="1800" b="0">
                <a:solidFill>
                  <a:srgbClr val="DCE2E6"/>
                </a:solidFill>
              </a:defRPr>
            </a:lvl2pPr>
            <a:lvl3pPr algn="l">
              <a:defRPr sz="1800" b="0">
                <a:solidFill>
                  <a:srgbClr val="DCE2E6"/>
                </a:solidFill>
              </a:defRPr>
            </a:lvl3pPr>
            <a:lvl4pPr algn="l">
              <a:defRPr sz="1800" b="0">
                <a:solidFill>
                  <a:srgbClr val="DCE2E6"/>
                </a:solidFill>
              </a:defRPr>
            </a:lvl4pPr>
            <a:lvl5pPr algn="l">
              <a:defRPr sz="1800" b="0">
                <a:solidFill>
                  <a:srgbClr val="DCE2E6"/>
                </a:solidFill>
              </a:defRPr>
            </a:lvl5pPr>
            <a:lvl6pPr algn="l">
              <a:defRPr sz="1800" b="0">
                <a:solidFill>
                  <a:srgbClr val="DCE2E6"/>
                </a:solidFill>
              </a:defRPr>
            </a:lvl6pPr>
            <a:lvl7pPr algn="l">
              <a:defRPr sz="1800" b="0">
                <a:solidFill>
                  <a:srgbClr val="DCE2E6"/>
                </a:solidFill>
              </a:defRPr>
            </a:lvl7pPr>
            <a:lvl8pPr algn="l">
              <a:defRPr sz="1800" b="0">
                <a:solidFill>
                  <a:srgbClr val="DCE2E6"/>
                </a:solidFill>
              </a:defRPr>
            </a:lvl8pPr>
            <a:lvl9pPr algn="l">
              <a:defRPr sz="1800" b="0">
                <a:solidFill>
                  <a:srgbClr val="DCE2E6"/>
                </a:solidFill>
              </a:defRPr>
            </a:lvl9pPr>
          </a:lstStyle>
          <a:p xmlns:a="http://schemas.openxmlformats.org/drawingml/2006/main">
            <a:pPr algn="l">
              <a:defRPr sz="1800" b="0">
                <a:solidFill>
                  <a:srgbClr val="DCE2E6"/>
                </a:solidFill>
              </a:defRPr>
            </a:pPr>
            <a:r>
              <a:rPr sz="1800" b="0">
                <a:solidFill>
                  <a:srgbClr val="DCE2E6"/>
                </a:solidFill>
              </a:rPr>
              <a:t>A grid with walls, a start and a goal.</a:t>
            </a:r>
          </a:p>
          <a:p xmlns:a="http://schemas.openxmlformats.org/drawingml/2006/main">
            <a:pPr algn="l">
              <a:defRPr sz="1800" b="0">
                <a:solidFill>
                  <a:srgbClr val="DCE2E6"/>
                </a:solidFill>
              </a:defRPr>
            </a:pPr>
            <a:r>
              <a:rPr sz="1800" b="0">
                <a:solidFill>
                  <a:srgbClr val="DCE2E6"/>
                </a:solidFill>
              </a:rPr>
              <a:t>Players can edit the map in the lab.</a:t>
            </a:r>
          </a:p>
        </p:txBody>
      </p:sp>
      <p:sp>
        <p:nvSpPr>
          <p:cNvPr id="7" name="Search rule heading">
            <a:extLst xmlns:a="http://schemas.openxmlformats.org/drawingml/2006/main">
              <a:ext uri="{FF2B5EF4-FFF2-40B4-BE49-F238E27FC236}">
                <a16:creationId xmlns:a16="http://schemas.microsoft.com/office/drawing/2014/main" id="{BAE4DE2C-253A-4999-8936-57D8C837FF2B}"/>
              </a:ext>
            </a:extLst>
          </p:cNvPr>
          <p:cNvSpPr>
            <a:spLocks xmlns:a="http://schemas.openxmlformats.org/drawingml/2006/main" noGrp="1"/>
          </p:cNvSpPr>
          <p:nvPr/>
        </p:nvSpPr>
        <p:spPr>
          <a:xfrm xmlns:a="http://schemas.openxmlformats.org/drawingml/2006/main">
            <a:off x="609600" y="3333750"/>
            <a:ext cx="495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00" b="1">
                <a:solidFill>
                  <a:srgbClr val="F0E2CA"/>
                </a:solidFill>
              </a:defRPr>
            </a:defPPr>
            <a:lvl1pPr algn="l">
              <a:defRPr sz="2100" b="1">
                <a:solidFill>
                  <a:srgbClr val="F0E2CA"/>
                </a:solidFill>
              </a:defRPr>
            </a:lvl1pPr>
            <a:lvl2pPr algn="l">
              <a:defRPr sz="2100" b="1">
                <a:solidFill>
                  <a:srgbClr val="F0E2CA"/>
                </a:solidFill>
              </a:defRPr>
            </a:lvl2pPr>
            <a:lvl3pPr algn="l">
              <a:defRPr sz="2100" b="1">
                <a:solidFill>
                  <a:srgbClr val="F0E2CA"/>
                </a:solidFill>
              </a:defRPr>
            </a:lvl3pPr>
            <a:lvl4pPr algn="l">
              <a:defRPr sz="2100" b="1">
                <a:solidFill>
                  <a:srgbClr val="F0E2CA"/>
                </a:solidFill>
              </a:defRPr>
            </a:lvl4pPr>
            <a:lvl5pPr algn="l">
              <a:defRPr sz="2100" b="1">
                <a:solidFill>
                  <a:srgbClr val="F0E2CA"/>
                </a:solidFill>
              </a:defRPr>
            </a:lvl5pPr>
            <a:lvl6pPr algn="l">
              <a:defRPr sz="2100" b="1">
                <a:solidFill>
                  <a:srgbClr val="F0E2CA"/>
                </a:solidFill>
              </a:defRPr>
            </a:lvl6pPr>
            <a:lvl7pPr algn="l">
              <a:defRPr sz="2100" b="1">
                <a:solidFill>
                  <a:srgbClr val="F0E2CA"/>
                </a:solidFill>
              </a:defRPr>
            </a:lvl7pPr>
            <a:lvl8pPr algn="l">
              <a:defRPr sz="2100" b="1">
                <a:solidFill>
                  <a:srgbClr val="F0E2CA"/>
                </a:solidFill>
              </a:defRPr>
            </a:lvl8pPr>
            <a:lvl9pPr algn="l">
              <a:defRPr sz="2100" b="1">
                <a:solidFill>
                  <a:srgbClr val="F0E2CA"/>
                </a:solidFill>
              </a:defRPr>
            </a:lvl9pPr>
          </a:lstStyle>
          <a:p xmlns:a="http://schemas.openxmlformats.org/drawingml/2006/main">
            <a:pPr algn="l">
              <a:defRPr sz="2100" b="1">
                <a:solidFill>
                  <a:srgbClr val="F0E2CA"/>
                </a:solidFill>
              </a:defRPr>
            </a:pPr>
            <a:r>
              <a:rPr sz="2100" b="1">
                <a:solidFill>
                  <a:srgbClr val="F0E2CA"/>
                </a:solidFill>
              </a:rPr>
              <a:t>Search rule</a:t>
            </a:r>
          </a:p>
        </p:txBody>
      </p:sp>
      <p:sp>
        <p:nvSpPr>
          <p:cNvPr id="8" name="Search rule">
            <a:extLst xmlns:a="http://schemas.openxmlformats.org/drawingml/2006/main">
              <a:ext uri="{FF2B5EF4-FFF2-40B4-BE49-F238E27FC236}">
                <a16:creationId xmlns:a16="http://schemas.microsoft.com/office/drawing/2014/main" id="{AF5E11DD-6268-478F-8F32-D11C12F29C6E}"/>
              </a:ext>
            </a:extLst>
          </p:cNvPr>
          <p:cNvSpPr>
            <a:spLocks xmlns:a="http://schemas.openxmlformats.org/drawingml/2006/main" noGrp="1"/>
          </p:cNvSpPr>
          <p:nvPr/>
        </p:nvSpPr>
        <p:spPr>
          <a:xfrm xmlns:a="http://schemas.openxmlformats.org/drawingml/2006/main">
            <a:off x="609600" y="3762375"/>
            <a:ext cx="4953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950" b="0">
                <a:solidFill>
                  <a:srgbClr val="DCE2E6"/>
                </a:solidFill>
              </a:defRPr>
            </a:defPPr>
            <a:lvl1pPr algn="l">
              <a:defRPr sz="1950" b="0">
                <a:solidFill>
                  <a:srgbClr val="DCE2E6"/>
                </a:solidFill>
              </a:defRPr>
            </a:lvl1pPr>
            <a:lvl2pPr algn="l">
              <a:defRPr sz="1950" b="0">
                <a:solidFill>
                  <a:srgbClr val="DCE2E6"/>
                </a:solidFill>
              </a:defRPr>
            </a:lvl2pPr>
            <a:lvl3pPr algn="l">
              <a:defRPr sz="1950" b="0">
                <a:solidFill>
                  <a:srgbClr val="DCE2E6"/>
                </a:solidFill>
              </a:defRPr>
            </a:lvl3pPr>
            <a:lvl4pPr algn="l">
              <a:defRPr sz="1950" b="0">
                <a:solidFill>
                  <a:srgbClr val="DCE2E6"/>
                </a:solidFill>
              </a:defRPr>
            </a:lvl4pPr>
            <a:lvl5pPr algn="l">
              <a:defRPr sz="1950" b="0">
                <a:solidFill>
                  <a:srgbClr val="DCE2E6"/>
                </a:solidFill>
              </a:defRPr>
            </a:lvl5pPr>
            <a:lvl6pPr algn="l">
              <a:defRPr sz="1950" b="0">
                <a:solidFill>
                  <a:srgbClr val="DCE2E6"/>
                </a:solidFill>
              </a:defRPr>
            </a:lvl6pPr>
            <a:lvl7pPr algn="l">
              <a:defRPr sz="1950" b="0">
                <a:solidFill>
                  <a:srgbClr val="DCE2E6"/>
                </a:solidFill>
              </a:defRPr>
            </a:lvl7pPr>
            <a:lvl8pPr algn="l">
              <a:defRPr sz="1950" b="0">
                <a:solidFill>
                  <a:srgbClr val="DCE2E6"/>
                </a:solidFill>
              </a:defRPr>
            </a:lvl8pPr>
            <a:lvl9pPr algn="l">
              <a:defRPr sz="1950" b="0">
                <a:solidFill>
                  <a:srgbClr val="DCE2E6"/>
                </a:solidFill>
              </a:defRPr>
            </a:lvl9pPr>
          </a:lstStyle>
          <a:p xmlns:a="http://schemas.openxmlformats.org/drawingml/2006/main">
            <a:pPr algn="l">
              <a:defRPr sz="1950" b="0">
                <a:solidFill>
                  <a:srgbClr val="DCE2E6"/>
                </a:solidFill>
              </a:defRPr>
            </a:pPr>
            <a:r>
              <a:rPr sz="1950" b="0">
                <a:solidFill>
                  <a:srgbClr val="DCE2E6"/>
                </a:solidFill>
              </a:rPr>
              <a:t>f = g + h</a:t>
            </a:r>
          </a:p>
          <a:p xmlns:a="http://schemas.openxmlformats.org/drawingml/2006/main">
            <a:pPr algn="l">
              <a:defRPr sz="1950" b="0">
                <a:solidFill>
                  <a:srgbClr val="DCE2E6"/>
                </a:solidFill>
              </a:defRPr>
            </a:pPr>
            <a:r>
              <a:rPr sz="1950" b="0">
                <a:solidFill>
                  <a:srgbClr val="DCE2E6"/>
                </a:solidFill>
              </a:rPr>
              <a:t>g is the cost so far.</a:t>
            </a:r>
          </a:p>
          <a:p xmlns:a="http://schemas.openxmlformats.org/drawingml/2006/main">
            <a:pPr algn="l">
              <a:defRPr sz="1950" b="0">
                <a:solidFill>
                  <a:srgbClr val="DCE2E6"/>
                </a:solidFill>
              </a:defRPr>
            </a:pPr>
            <a:r>
              <a:rPr sz="1950" b="0">
                <a:solidFill>
                  <a:srgbClr val="DCE2E6"/>
                </a:solidFill>
              </a:rPr>
              <a:t>h estimates the distance left.</a:t>
            </a:r>
          </a:p>
        </p:txBody>
      </p:sp>
      <p:sp>
        <p:nvSpPr>
          <p:cNvPr id="9" name="Observed result">
            <a:extLst xmlns:a="http://schemas.openxmlformats.org/drawingml/2006/main">
              <a:ext uri="{FF2B5EF4-FFF2-40B4-BE49-F238E27FC236}">
                <a16:creationId xmlns:a16="http://schemas.microsoft.com/office/drawing/2014/main" id="{AA2A6EFC-E105-4782-8163-47B2A6334918}"/>
              </a:ext>
            </a:extLst>
          </p:cNvPr>
          <p:cNvSpPr>
            <a:spLocks xmlns:a="http://schemas.openxmlformats.org/drawingml/2006/main" noGrp="1"/>
          </p:cNvSpPr>
          <p:nvPr/>
        </p:nvSpPr>
        <p:spPr>
          <a:xfrm xmlns:a="http://schemas.openxmlformats.org/drawingml/2006/main">
            <a:off x="609600" y="5191125"/>
            <a:ext cx="4953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C16A"/>
                </a:solidFill>
              </a:defRPr>
            </a:defPPr>
            <a:lvl1pPr algn="l">
              <a:defRPr sz="2250" b="1">
                <a:solidFill>
                  <a:srgbClr val="FFC16A"/>
                </a:solidFill>
              </a:defRPr>
            </a:lvl1pPr>
            <a:lvl2pPr algn="l">
              <a:defRPr sz="2250" b="1">
                <a:solidFill>
                  <a:srgbClr val="FFC16A"/>
                </a:solidFill>
              </a:defRPr>
            </a:lvl2pPr>
            <a:lvl3pPr algn="l">
              <a:defRPr sz="2250" b="1">
                <a:solidFill>
                  <a:srgbClr val="FFC16A"/>
                </a:solidFill>
              </a:defRPr>
            </a:lvl3pPr>
            <a:lvl4pPr algn="l">
              <a:defRPr sz="2250" b="1">
                <a:solidFill>
                  <a:srgbClr val="FFC16A"/>
                </a:solidFill>
              </a:defRPr>
            </a:lvl4pPr>
            <a:lvl5pPr algn="l">
              <a:defRPr sz="2250" b="1">
                <a:solidFill>
                  <a:srgbClr val="FFC16A"/>
                </a:solidFill>
              </a:defRPr>
            </a:lvl5pPr>
            <a:lvl6pPr algn="l">
              <a:defRPr sz="2250" b="1">
                <a:solidFill>
                  <a:srgbClr val="FFC16A"/>
                </a:solidFill>
              </a:defRPr>
            </a:lvl6pPr>
            <a:lvl7pPr algn="l">
              <a:defRPr sz="2250" b="1">
                <a:solidFill>
                  <a:srgbClr val="FFC16A"/>
                </a:solidFill>
              </a:defRPr>
            </a:lvl7pPr>
            <a:lvl8pPr algn="l">
              <a:defRPr sz="2250" b="1">
                <a:solidFill>
                  <a:srgbClr val="FFC16A"/>
                </a:solidFill>
              </a:defRPr>
            </a:lvl8pPr>
            <a:lvl9pPr algn="l">
              <a:defRPr sz="2250" b="1">
                <a:solidFill>
                  <a:srgbClr val="FFC16A"/>
                </a:solidFill>
              </a:defRPr>
            </a:lvl9pPr>
          </a:lstStyle>
          <a:p xmlns:a="http://schemas.openxmlformats.org/drawingml/2006/main">
            <a:pPr algn="l">
              <a:defRPr sz="2250" b="1">
                <a:solidFill>
                  <a:srgbClr val="FFC16A"/>
                </a:solidFill>
              </a:defRPr>
            </a:pPr>
            <a:r>
              <a:rPr sz="2250" b="1">
                <a:solidFill>
                  <a:srgbClr val="FFC16A"/>
                </a:solidFill>
              </a:rPr>
              <a:t>Example: 30 moves</a:t>
            </a:r>
          </a:p>
          <a:p xmlns:a="http://schemas.openxmlformats.org/drawingml/2006/main">
            <a:pPr algn="l">
              <a:defRPr sz="2250" b="1">
                <a:solidFill>
                  <a:srgbClr val="FFC16A"/>
                </a:solidFill>
              </a:defRPr>
            </a:pPr>
            <a:r>
              <a:rPr sz="2250" b="1">
                <a:solidFill>
                  <a:srgbClr val="FFC16A"/>
                </a:solidFill>
              </a:rPr>
              <a:t>165 closed nodes</a:t>
            </a:r>
          </a:p>
        </p:txBody>
      </p:sp>
      <p:pic>
        <p:nvPicPr>
          <p:cNvPr id="10" name="">
            <a:extLst xmlns:a="http://schemas.openxmlformats.org/drawingml/2006/main">
              <a:ext uri="{FF2B5EF4-FFF2-40B4-BE49-F238E27FC236}">
                <a16:creationId xmlns:a16="http://schemas.microsoft.com/office/drawing/2014/main" id="{02EEDCB6-AC2D-47E3-9957-2A3155C7035E}"/>
              </a:ext>
            </a:extLst>
          </p:cNvPr>
          <p:cNvPicPr>
            <a:picLocks xmlns:a="http://schemas.openxmlformats.org/drawingml/2006/main" noChangeAspect="1"/>
          </p:cNvPicPr>
          <p:nvPr/>
        </p:nvPicPr>
        <p:blipFill>
          <a:blip xmlns:r="http://schemas.openxmlformats.org/officeDocument/2006/relationships" xmlns:a="http://schemas.openxmlformats.org/drawingml/2006/main" r:embed="R4510a4aca1944957"/>
          <a:srcRect xmlns:a="http://schemas.openxmlformats.org/drawingml/2006/main" l="17188" t="33194" r="41016" b="10833"/>
          <a:stretch xmlns:a="http://schemas.openxmlformats.org/drawingml/2006/main"/>
        </p:blipFill>
        <p:spPr>
          <a:xfrm xmlns:a="http://schemas.openxmlformats.org/drawingml/2006/main">
            <a:off x="6191250" y="1943100"/>
            <a:ext cx="5391150" cy="4048125"/>
          </a:xfrm>
          <a:prstGeom xmlns:a="http://schemas.openxmlformats.org/drawingml/2006/main" prst="rect">
            <a:avLst/>
          </a:prstGeom>
        </p:spPr>
      </p:pic>
      <p:sp>
        <p:nvSpPr>
          <p:cNvPr id="11" name="Weighted routing">
            <a:extLst xmlns:a="http://schemas.openxmlformats.org/drawingml/2006/main">
              <a:ext uri="{FF2B5EF4-FFF2-40B4-BE49-F238E27FC236}">
                <a16:creationId xmlns:a16="http://schemas.microsoft.com/office/drawing/2014/main" id="{F3A43564-A9DF-442A-8B52-D959BDF9EDF7}"/>
              </a:ext>
            </a:extLst>
          </p:cNvPr>
          <p:cNvSpPr>
            <a:spLocks xmlns:a="http://schemas.openxmlformats.org/drawingml/2006/main" noGrp="1"/>
          </p:cNvSpPr>
          <p:nvPr/>
        </p:nvSpPr>
        <p:spPr>
          <a:xfrm xmlns:a="http://schemas.openxmlformats.org/drawingml/2006/main">
            <a:off x="609600" y="6419850"/>
            <a:ext cx="1000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0">
                <a:solidFill>
                  <a:srgbClr val="AAB8C1"/>
                </a:solidFill>
              </a:defRPr>
            </a:defPPr>
            <a:lvl1pPr algn="l">
              <a:defRPr sz="1500" b="0">
                <a:solidFill>
                  <a:srgbClr val="AAB8C1"/>
                </a:solidFill>
              </a:defRPr>
            </a:lvl1pPr>
            <a:lvl2pPr algn="l">
              <a:defRPr sz="1500" b="0">
                <a:solidFill>
                  <a:srgbClr val="AAB8C1"/>
                </a:solidFill>
              </a:defRPr>
            </a:lvl2pPr>
            <a:lvl3pPr algn="l">
              <a:defRPr sz="1500" b="0">
                <a:solidFill>
                  <a:srgbClr val="AAB8C1"/>
                </a:solidFill>
              </a:defRPr>
            </a:lvl3pPr>
            <a:lvl4pPr algn="l">
              <a:defRPr sz="1500" b="0">
                <a:solidFill>
                  <a:srgbClr val="AAB8C1"/>
                </a:solidFill>
              </a:defRPr>
            </a:lvl4pPr>
            <a:lvl5pPr algn="l">
              <a:defRPr sz="1500" b="0">
                <a:solidFill>
                  <a:srgbClr val="AAB8C1"/>
                </a:solidFill>
              </a:defRPr>
            </a:lvl5pPr>
            <a:lvl6pPr algn="l">
              <a:defRPr sz="1500" b="0">
                <a:solidFill>
                  <a:srgbClr val="AAB8C1"/>
                </a:solidFill>
              </a:defRPr>
            </a:lvl6pPr>
            <a:lvl7pPr algn="l">
              <a:defRPr sz="1500" b="0">
                <a:solidFill>
                  <a:srgbClr val="AAB8C1"/>
                </a:solidFill>
              </a:defRPr>
            </a:lvl7pPr>
            <a:lvl8pPr algn="l">
              <a:defRPr sz="1500" b="0">
                <a:solidFill>
                  <a:srgbClr val="AAB8C1"/>
                </a:solidFill>
              </a:defRPr>
            </a:lvl8pPr>
            <a:lvl9pPr algn="l">
              <a:defRPr sz="1500" b="0">
                <a:solidFill>
                  <a:srgbClr val="AAB8C1"/>
                </a:solidFill>
              </a:defRPr>
            </a:lvl9pPr>
          </a:lstStyle>
          <a:p xmlns:a="http://schemas.openxmlformats.org/drawingml/2006/main">
            <a:pPr algn="l">
              <a:defRPr sz="1500" b="0">
                <a:solidFill>
                  <a:srgbClr val="AAB8C1"/>
                </a:solidFill>
              </a:defRPr>
            </a:pPr>
            <a:r>
              <a:rPr sz="1500" b="0">
                <a:solidFill>
                  <a:srgbClr val="AAB8C1"/>
                </a:solidFill>
              </a:rPr>
              <a:t>Weighted A* also considers dangerous tiles.</a:t>
            </a:r>
          </a:p>
        </p:txBody>
      </p:sp>
    </p:spTree>
    <p:extLst>
      <p:ext uri="{BB962C8B-B14F-4D97-AF65-F5344CB8AC3E}">
        <p14:creationId xmlns:p14="http://schemas.microsoft.com/office/powerpoint/2010/main" val="2141727371"/>
      </p:ext>
    </p:extLst>
  </p:cSld>
</p:sld>
</file>

<file path=ppt/slides/slide5.xml><?xml version="1.0" encoding="utf-8"?>
<p:sld xmlns:p="http://schemas.openxmlformats.org/presentationml/2006/main">
  <p:cSld>
    <p:bg>
      <p:bgPr>
        <a:solidFill xmlns:a="http://schemas.openxmlformats.org/drawingml/2006/main">
          <a:srgbClr val="0B0D12"/>
        </a:solidFill>
      </p:bgPr>
    </p:bg>
    <p:spTree>
      <p:nvGrpSpPr>
        <p:cNvPr id="1" name=""/>
        <p:cNvGrpSpPr/>
        <p:nvPr/>
      </p:nvGrpSpPr>
      <p:grpSpPr>
        <a:xfrm xmlns:a="http://schemas.openxmlformats.org/drawingml/2006/main"/>
      </p:grpSpPr>
      <p:sp>
        <p:nvSpPr>
          <p:cNvPr id="2" name="Slide title">
            <a:extLst xmlns:a="http://schemas.openxmlformats.org/drawingml/2006/main">
              <a:ext uri="{FF2B5EF4-FFF2-40B4-BE49-F238E27FC236}">
                <a16:creationId xmlns:a16="http://schemas.microsoft.com/office/drawing/2014/main" id="{CEC65263-04E1-449C-9C44-53E24DDA906E}"/>
              </a:ext>
            </a:extLst>
          </p:cNvPr>
          <p:cNvSpPr>
            <a:spLocks xmlns:a="http://schemas.openxmlformats.org/drawingml/2006/main" noGrp="1"/>
          </p:cNvSpPr>
          <p:nvPr/>
        </p:nvSpPr>
        <p:spPr>
          <a:xfrm xmlns:a="http://schemas.openxmlformats.org/drawingml/2006/main">
            <a:off x="609600" y="457200"/>
            <a:ext cx="10972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750" b="1">
                <a:solidFill>
                  <a:srgbClr val="F0E2CA"/>
                </a:solidFill>
              </a:defRPr>
            </a:defPPr>
            <a:lvl1pPr algn="l">
              <a:defRPr sz="3750" b="1">
                <a:solidFill>
                  <a:srgbClr val="F0E2CA"/>
                </a:solidFill>
              </a:defRPr>
            </a:lvl1pPr>
            <a:lvl2pPr algn="l">
              <a:defRPr sz="3750" b="1">
                <a:solidFill>
                  <a:srgbClr val="F0E2CA"/>
                </a:solidFill>
              </a:defRPr>
            </a:lvl2pPr>
            <a:lvl3pPr algn="l">
              <a:defRPr sz="3750" b="1">
                <a:solidFill>
                  <a:srgbClr val="F0E2CA"/>
                </a:solidFill>
              </a:defRPr>
            </a:lvl3pPr>
            <a:lvl4pPr algn="l">
              <a:defRPr sz="3750" b="1">
                <a:solidFill>
                  <a:srgbClr val="F0E2CA"/>
                </a:solidFill>
              </a:defRPr>
            </a:lvl4pPr>
            <a:lvl5pPr algn="l">
              <a:defRPr sz="3750" b="1">
                <a:solidFill>
                  <a:srgbClr val="F0E2CA"/>
                </a:solidFill>
              </a:defRPr>
            </a:lvl5pPr>
            <a:lvl6pPr algn="l">
              <a:defRPr sz="3750" b="1">
                <a:solidFill>
                  <a:srgbClr val="F0E2CA"/>
                </a:solidFill>
              </a:defRPr>
            </a:lvl6pPr>
            <a:lvl7pPr algn="l">
              <a:defRPr sz="3750" b="1">
                <a:solidFill>
                  <a:srgbClr val="F0E2CA"/>
                </a:solidFill>
              </a:defRPr>
            </a:lvl7pPr>
            <a:lvl8pPr algn="l">
              <a:defRPr sz="3750" b="1">
                <a:solidFill>
                  <a:srgbClr val="F0E2CA"/>
                </a:solidFill>
              </a:defRPr>
            </a:lvl8pPr>
            <a:lvl9pPr algn="l">
              <a:defRPr sz="3750" b="1">
                <a:solidFill>
                  <a:srgbClr val="F0E2CA"/>
                </a:solidFill>
              </a:defRPr>
            </a:lvl9pPr>
          </a:lstStyle>
          <a:p xmlns:a="http://schemas.openxmlformats.org/drawingml/2006/main">
            <a:pPr algn="l">
              <a:defRPr sz="3750" b="1">
                <a:solidFill>
                  <a:srgbClr val="F0E2CA"/>
                </a:solidFill>
              </a:defRPr>
            </a:pPr>
            <a:r>
              <a:rPr sz="3750" b="1">
                <a:solidFill>
                  <a:srgbClr val="F0E2CA"/>
                </a:solidFill>
              </a:rPr>
              <a:t>Intelligent enemy agents</a:t>
            </a:r>
          </a:p>
        </p:txBody>
      </p:sp>
      <p:sp>
        <p:nvSpPr>
          <p:cNvPr id="3" name="Page number">
            <a:extLst xmlns:a="http://schemas.openxmlformats.org/drawingml/2006/main">
              <a:ext uri="{FF2B5EF4-FFF2-40B4-BE49-F238E27FC236}">
                <a16:creationId xmlns:a16="http://schemas.microsoft.com/office/drawing/2014/main" id="{E012AF03-97AC-4D21-B6C0-271CBA2F8B33}"/>
              </a:ext>
            </a:extLst>
          </p:cNvPr>
          <p:cNvSpPr>
            <a:spLocks xmlns:a="http://schemas.openxmlformats.org/drawingml/2006/main" noGrp="1"/>
          </p:cNvSpPr>
          <p:nvPr/>
        </p:nvSpPr>
        <p:spPr>
          <a:xfrm xmlns:a="http://schemas.openxmlformats.org/drawingml/2006/main">
            <a:off x="11144250" y="641985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0">
                <a:solidFill>
                  <a:srgbClr val="AAB8C1"/>
                </a:solidFill>
              </a:defRPr>
            </a:defPPr>
            <a:lvl1pPr algn="l">
              <a:defRPr sz="1500" b="0">
                <a:solidFill>
                  <a:srgbClr val="AAB8C1"/>
                </a:solidFill>
              </a:defRPr>
            </a:lvl1pPr>
            <a:lvl2pPr algn="l">
              <a:defRPr sz="1500" b="0">
                <a:solidFill>
                  <a:srgbClr val="AAB8C1"/>
                </a:solidFill>
              </a:defRPr>
            </a:lvl2pPr>
            <a:lvl3pPr algn="l">
              <a:defRPr sz="1500" b="0">
                <a:solidFill>
                  <a:srgbClr val="AAB8C1"/>
                </a:solidFill>
              </a:defRPr>
            </a:lvl3pPr>
            <a:lvl4pPr algn="l">
              <a:defRPr sz="1500" b="0">
                <a:solidFill>
                  <a:srgbClr val="AAB8C1"/>
                </a:solidFill>
              </a:defRPr>
            </a:lvl4pPr>
            <a:lvl5pPr algn="l">
              <a:defRPr sz="1500" b="0">
                <a:solidFill>
                  <a:srgbClr val="AAB8C1"/>
                </a:solidFill>
              </a:defRPr>
            </a:lvl5pPr>
            <a:lvl6pPr algn="l">
              <a:defRPr sz="1500" b="0">
                <a:solidFill>
                  <a:srgbClr val="AAB8C1"/>
                </a:solidFill>
              </a:defRPr>
            </a:lvl6pPr>
            <a:lvl7pPr algn="l">
              <a:defRPr sz="1500" b="0">
                <a:solidFill>
                  <a:srgbClr val="AAB8C1"/>
                </a:solidFill>
              </a:defRPr>
            </a:lvl7pPr>
            <a:lvl8pPr algn="l">
              <a:defRPr sz="1500" b="0">
                <a:solidFill>
                  <a:srgbClr val="AAB8C1"/>
                </a:solidFill>
              </a:defRPr>
            </a:lvl8pPr>
            <a:lvl9pPr algn="l">
              <a:defRPr sz="1500" b="0">
                <a:solidFill>
                  <a:srgbClr val="AAB8C1"/>
                </a:solidFill>
              </a:defRPr>
            </a:lvl9pPr>
          </a:lstStyle>
          <a:p xmlns:a="http://schemas.openxmlformats.org/drawingml/2006/main">
            <a:pPr algn="l">
              <a:defRPr sz="1500" b="0">
                <a:solidFill>
                  <a:srgbClr val="AAB8C1"/>
                </a:solidFill>
              </a:defRPr>
            </a:pPr>
            <a:r>
              <a:rPr sz="1500" b="0">
                <a:solidFill>
                  <a:srgbClr val="AAB8C1"/>
                </a:solidFill>
              </a:rPr>
              <a:t>05</a:t>
            </a:r>
          </a:p>
        </p:txBody>
      </p:sp>
      <p:sp>
        <p:nvSpPr>
          <p:cNvPr id="4" name="Course week">
            <a:extLst xmlns:a="http://schemas.openxmlformats.org/drawingml/2006/main">
              <a:ext uri="{FF2B5EF4-FFF2-40B4-BE49-F238E27FC236}">
                <a16:creationId xmlns:a16="http://schemas.microsoft.com/office/drawing/2014/main" id="{CB8EA275-CDD9-4DA9-9F62-4C7FADAE6B82}"/>
              </a:ext>
            </a:extLst>
          </p:cNvPr>
          <p:cNvSpPr>
            <a:spLocks xmlns:a="http://schemas.openxmlformats.org/drawingml/2006/main" noGrp="1"/>
          </p:cNvSpPr>
          <p:nvPr/>
        </p:nvSpPr>
        <p:spPr>
          <a:xfrm xmlns:a="http://schemas.openxmlformats.org/drawingml/2006/main">
            <a:off x="609600" y="1285875"/>
            <a:ext cx="57150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950" b="1">
                <a:solidFill>
                  <a:srgbClr val="FFC16A"/>
                </a:solidFill>
              </a:defRPr>
            </a:defPPr>
            <a:lvl1pPr algn="l">
              <a:defRPr sz="1950" b="1">
                <a:solidFill>
                  <a:srgbClr val="FFC16A"/>
                </a:solidFill>
              </a:defRPr>
            </a:lvl1pPr>
            <a:lvl2pPr algn="l">
              <a:defRPr sz="1950" b="1">
                <a:solidFill>
                  <a:srgbClr val="FFC16A"/>
                </a:solidFill>
              </a:defRPr>
            </a:lvl2pPr>
            <a:lvl3pPr algn="l">
              <a:defRPr sz="1950" b="1">
                <a:solidFill>
                  <a:srgbClr val="FFC16A"/>
                </a:solidFill>
              </a:defRPr>
            </a:lvl3pPr>
            <a:lvl4pPr algn="l">
              <a:defRPr sz="1950" b="1">
                <a:solidFill>
                  <a:srgbClr val="FFC16A"/>
                </a:solidFill>
              </a:defRPr>
            </a:lvl4pPr>
            <a:lvl5pPr algn="l">
              <a:defRPr sz="1950" b="1">
                <a:solidFill>
                  <a:srgbClr val="FFC16A"/>
                </a:solidFill>
              </a:defRPr>
            </a:lvl5pPr>
            <a:lvl6pPr algn="l">
              <a:defRPr sz="1950" b="1">
                <a:solidFill>
                  <a:srgbClr val="FFC16A"/>
                </a:solidFill>
              </a:defRPr>
            </a:lvl6pPr>
            <a:lvl7pPr algn="l">
              <a:defRPr sz="1950" b="1">
                <a:solidFill>
                  <a:srgbClr val="FFC16A"/>
                </a:solidFill>
              </a:defRPr>
            </a:lvl7pPr>
            <a:lvl8pPr algn="l">
              <a:defRPr sz="1950" b="1">
                <a:solidFill>
                  <a:srgbClr val="FFC16A"/>
                </a:solidFill>
              </a:defRPr>
            </a:lvl8pPr>
            <a:lvl9pPr algn="l">
              <a:defRPr sz="1950" b="1">
                <a:solidFill>
                  <a:srgbClr val="FFC16A"/>
                </a:solidFill>
              </a:defRPr>
            </a:lvl9pPr>
          </a:lstStyle>
          <a:p xmlns:a="http://schemas.openxmlformats.org/drawingml/2006/main">
            <a:pPr algn="l">
              <a:defRPr sz="1950" b="1">
                <a:solidFill>
                  <a:srgbClr val="FFC16A"/>
                </a:solidFill>
              </a:defRPr>
            </a:pPr>
            <a:r>
              <a:rPr sz="1950" b="1">
                <a:solidFill>
                  <a:srgbClr val="FFC16A"/>
                </a:solidFill>
              </a:rPr>
              <a:t>Week 1  Agents and environments</a:t>
            </a:r>
          </a:p>
        </p:txBody>
      </p:sp>
      <p:sp>
        <p:nvSpPr>
          <p:cNvPr id="5" name="Perception heading">
            <a:extLst xmlns:a="http://schemas.openxmlformats.org/drawingml/2006/main">
              <a:ext uri="{FF2B5EF4-FFF2-40B4-BE49-F238E27FC236}">
                <a16:creationId xmlns:a16="http://schemas.microsoft.com/office/drawing/2014/main" id="{AEF51966-6AA7-4EA6-BA76-D6C939FF0AD1}"/>
              </a:ext>
            </a:extLst>
          </p:cNvPr>
          <p:cNvSpPr>
            <a:spLocks xmlns:a="http://schemas.openxmlformats.org/drawingml/2006/main" noGrp="1"/>
          </p:cNvSpPr>
          <p:nvPr/>
        </p:nvSpPr>
        <p:spPr>
          <a:xfrm xmlns:a="http://schemas.openxmlformats.org/drawingml/2006/main">
            <a:off x="609600" y="1905000"/>
            <a:ext cx="495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00" b="1">
                <a:solidFill>
                  <a:srgbClr val="F0E2CA"/>
                </a:solidFill>
              </a:defRPr>
            </a:defPPr>
            <a:lvl1pPr algn="l">
              <a:defRPr sz="2100" b="1">
                <a:solidFill>
                  <a:srgbClr val="F0E2CA"/>
                </a:solidFill>
              </a:defRPr>
            </a:lvl1pPr>
            <a:lvl2pPr algn="l">
              <a:defRPr sz="2100" b="1">
                <a:solidFill>
                  <a:srgbClr val="F0E2CA"/>
                </a:solidFill>
              </a:defRPr>
            </a:lvl2pPr>
            <a:lvl3pPr algn="l">
              <a:defRPr sz="2100" b="1">
                <a:solidFill>
                  <a:srgbClr val="F0E2CA"/>
                </a:solidFill>
              </a:defRPr>
            </a:lvl3pPr>
            <a:lvl4pPr algn="l">
              <a:defRPr sz="2100" b="1">
                <a:solidFill>
                  <a:srgbClr val="F0E2CA"/>
                </a:solidFill>
              </a:defRPr>
            </a:lvl4pPr>
            <a:lvl5pPr algn="l">
              <a:defRPr sz="2100" b="1">
                <a:solidFill>
                  <a:srgbClr val="F0E2CA"/>
                </a:solidFill>
              </a:defRPr>
            </a:lvl5pPr>
            <a:lvl6pPr algn="l">
              <a:defRPr sz="2100" b="1">
                <a:solidFill>
                  <a:srgbClr val="F0E2CA"/>
                </a:solidFill>
              </a:defRPr>
            </a:lvl6pPr>
            <a:lvl7pPr algn="l">
              <a:defRPr sz="2100" b="1">
                <a:solidFill>
                  <a:srgbClr val="F0E2CA"/>
                </a:solidFill>
              </a:defRPr>
            </a:lvl7pPr>
            <a:lvl8pPr algn="l">
              <a:defRPr sz="2100" b="1">
                <a:solidFill>
                  <a:srgbClr val="F0E2CA"/>
                </a:solidFill>
              </a:defRPr>
            </a:lvl8pPr>
            <a:lvl9pPr algn="l">
              <a:defRPr sz="2100" b="1">
                <a:solidFill>
                  <a:srgbClr val="F0E2CA"/>
                </a:solidFill>
              </a:defRPr>
            </a:lvl9pPr>
          </a:lstStyle>
          <a:p xmlns:a="http://schemas.openxmlformats.org/drawingml/2006/main">
            <a:pPr algn="l">
              <a:defRPr sz="2100" b="1">
                <a:solidFill>
                  <a:srgbClr val="F0E2CA"/>
                </a:solidFill>
              </a:defRPr>
            </a:pPr>
            <a:r>
              <a:rPr sz="2100" b="1">
                <a:solidFill>
                  <a:srgbClr val="F0E2CA"/>
                </a:solidFill>
              </a:rPr>
              <a:t>Perception</a:t>
            </a:r>
          </a:p>
        </p:txBody>
      </p:sp>
      <p:sp>
        <p:nvSpPr>
          <p:cNvPr id="6" name="Perception">
            <a:extLst xmlns:a="http://schemas.openxmlformats.org/drawingml/2006/main">
              <a:ext uri="{FF2B5EF4-FFF2-40B4-BE49-F238E27FC236}">
                <a16:creationId xmlns:a16="http://schemas.microsoft.com/office/drawing/2014/main" id="{D456605A-07BE-4F25-B019-A4CC7797AA7A}"/>
              </a:ext>
            </a:extLst>
          </p:cNvPr>
          <p:cNvSpPr>
            <a:spLocks xmlns:a="http://schemas.openxmlformats.org/drawingml/2006/main" noGrp="1"/>
          </p:cNvSpPr>
          <p:nvPr/>
        </p:nvSpPr>
        <p:spPr>
          <a:xfrm xmlns:a="http://schemas.openxmlformats.org/drawingml/2006/main">
            <a:off x="609600" y="2333625"/>
            <a:ext cx="4953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DCE2E6"/>
                </a:solidFill>
              </a:defRPr>
            </a:defPPr>
            <a:lvl1pPr algn="l">
              <a:defRPr sz="1800" b="0">
                <a:solidFill>
                  <a:srgbClr val="DCE2E6"/>
                </a:solidFill>
              </a:defRPr>
            </a:lvl1pPr>
            <a:lvl2pPr algn="l">
              <a:defRPr sz="1800" b="0">
                <a:solidFill>
                  <a:srgbClr val="DCE2E6"/>
                </a:solidFill>
              </a:defRPr>
            </a:lvl2pPr>
            <a:lvl3pPr algn="l">
              <a:defRPr sz="1800" b="0">
                <a:solidFill>
                  <a:srgbClr val="DCE2E6"/>
                </a:solidFill>
              </a:defRPr>
            </a:lvl3pPr>
            <a:lvl4pPr algn="l">
              <a:defRPr sz="1800" b="0">
                <a:solidFill>
                  <a:srgbClr val="DCE2E6"/>
                </a:solidFill>
              </a:defRPr>
            </a:lvl4pPr>
            <a:lvl5pPr algn="l">
              <a:defRPr sz="1800" b="0">
                <a:solidFill>
                  <a:srgbClr val="DCE2E6"/>
                </a:solidFill>
              </a:defRPr>
            </a:lvl5pPr>
            <a:lvl6pPr algn="l">
              <a:defRPr sz="1800" b="0">
                <a:solidFill>
                  <a:srgbClr val="DCE2E6"/>
                </a:solidFill>
              </a:defRPr>
            </a:lvl6pPr>
            <a:lvl7pPr algn="l">
              <a:defRPr sz="1800" b="0">
                <a:solidFill>
                  <a:srgbClr val="DCE2E6"/>
                </a:solidFill>
              </a:defRPr>
            </a:lvl7pPr>
            <a:lvl8pPr algn="l">
              <a:defRPr sz="1800" b="0">
                <a:solidFill>
                  <a:srgbClr val="DCE2E6"/>
                </a:solidFill>
              </a:defRPr>
            </a:lvl8pPr>
            <a:lvl9pPr algn="l">
              <a:defRPr sz="1800" b="0">
                <a:solidFill>
                  <a:srgbClr val="DCE2E6"/>
                </a:solidFill>
              </a:defRPr>
            </a:lvl9pPr>
          </a:lstStyle>
          <a:p xmlns:a="http://schemas.openxmlformats.org/drawingml/2006/main">
            <a:pPr algn="l">
              <a:defRPr sz="1800" b="0">
                <a:solidFill>
                  <a:srgbClr val="DCE2E6"/>
                </a:solidFill>
              </a:defRPr>
            </a:pPr>
            <a:r>
              <a:rPr sz="1800" b="0">
                <a:solidFill>
                  <a:srgbClr val="DCE2E6"/>
                </a:solidFill>
              </a:rPr>
              <a:t>Distance and view direction affect sight.</a:t>
            </a:r>
          </a:p>
          <a:p xmlns:a="http://schemas.openxmlformats.org/drawingml/2006/main">
            <a:pPr algn="l">
              <a:defRPr sz="1800" b="0">
                <a:solidFill>
                  <a:srgbClr val="DCE2E6"/>
                </a:solidFill>
              </a:defRPr>
            </a:pPr>
            <a:r>
              <a:rPr sz="1800" b="0">
                <a:solidFill>
                  <a:srgbClr val="DCE2E6"/>
                </a:solidFill>
              </a:rPr>
              <a:t>Walls block the line of sight.</a:t>
            </a:r>
          </a:p>
          <a:p xmlns:a="http://schemas.openxmlformats.org/drawingml/2006/main">
            <a:pPr algn="l">
              <a:defRPr sz="1800" b="0">
                <a:solidFill>
                  <a:srgbClr val="DCE2E6"/>
                </a:solidFill>
              </a:defRPr>
            </a:pPr>
            <a:r>
              <a:rPr sz="1800" b="0">
                <a:solidFill>
                  <a:srgbClr val="DCE2E6"/>
                </a:solidFill>
              </a:rPr>
              <a:t>Noises can start an investigation.</a:t>
            </a:r>
          </a:p>
        </p:txBody>
      </p:sp>
      <p:sp>
        <p:nvSpPr>
          <p:cNvPr id="7" name="Decision heading">
            <a:extLst xmlns:a="http://schemas.openxmlformats.org/drawingml/2006/main">
              <a:ext uri="{FF2B5EF4-FFF2-40B4-BE49-F238E27FC236}">
                <a16:creationId xmlns:a16="http://schemas.microsoft.com/office/drawing/2014/main" id="{FF993674-B534-41D6-A866-86B9C9A7B2CF}"/>
              </a:ext>
            </a:extLst>
          </p:cNvPr>
          <p:cNvSpPr>
            <a:spLocks xmlns:a="http://schemas.openxmlformats.org/drawingml/2006/main" noGrp="1"/>
          </p:cNvSpPr>
          <p:nvPr/>
        </p:nvSpPr>
        <p:spPr>
          <a:xfrm xmlns:a="http://schemas.openxmlformats.org/drawingml/2006/main">
            <a:off x="609600" y="3762375"/>
            <a:ext cx="495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00" b="1">
                <a:solidFill>
                  <a:srgbClr val="F0E2CA"/>
                </a:solidFill>
              </a:defRPr>
            </a:defPPr>
            <a:lvl1pPr algn="l">
              <a:defRPr sz="2100" b="1">
                <a:solidFill>
                  <a:srgbClr val="F0E2CA"/>
                </a:solidFill>
              </a:defRPr>
            </a:lvl1pPr>
            <a:lvl2pPr algn="l">
              <a:defRPr sz="2100" b="1">
                <a:solidFill>
                  <a:srgbClr val="F0E2CA"/>
                </a:solidFill>
              </a:defRPr>
            </a:lvl2pPr>
            <a:lvl3pPr algn="l">
              <a:defRPr sz="2100" b="1">
                <a:solidFill>
                  <a:srgbClr val="F0E2CA"/>
                </a:solidFill>
              </a:defRPr>
            </a:lvl3pPr>
            <a:lvl4pPr algn="l">
              <a:defRPr sz="2100" b="1">
                <a:solidFill>
                  <a:srgbClr val="F0E2CA"/>
                </a:solidFill>
              </a:defRPr>
            </a:lvl4pPr>
            <a:lvl5pPr algn="l">
              <a:defRPr sz="2100" b="1">
                <a:solidFill>
                  <a:srgbClr val="F0E2CA"/>
                </a:solidFill>
              </a:defRPr>
            </a:lvl5pPr>
            <a:lvl6pPr algn="l">
              <a:defRPr sz="2100" b="1">
                <a:solidFill>
                  <a:srgbClr val="F0E2CA"/>
                </a:solidFill>
              </a:defRPr>
            </a:lvl6pPr>
            <a:lvl7pPr algn="l">
              <a:defRPr sz="2100" b="1">
                <a:solidFill>
                  <a:srgbClr val="F0E2CA"/>
                </a:solidFill>
              </a:defRPr>
            </a:lvl7pPr>
            <a:lvl8pPr algn="l">
              <a:defRPr sz="2100" b="1">
                <a:solidFill>
                  <a:srgbClr val="F0E2CA"/>
                </a:solidFill>
              </a:defRPr>
            </a:lvl8pPr>
            <a:lvl9pPr algn="l">
              <a:defRPr sz="2100" b="1">
                <a:solidFill>
                  <a:srgbClr val="F0E2CA"/>
                </a:solidFill>
              </a:defRPr>
            </a:lvl9pPr>
          </a:lstStyle>
          <a:p xmlns:a="http://schemas.openxmlformats.org/drawingml/2006/main">
            <a:pPr algn="l">
              <a:defRPr sz="2100" b="1">
                <a:solidFill>
                  <a:srgbClr val="F0E2CA"/>
                </a:solidFill>
              </a:defRPr>
            </a:pPr>
            <a:r>
              <a:rPr sz="2100" b="1">
                <a:solidFill>
                  <a:srgbClr val="F0E2CA"/>
                </a:solidFill>
              </a:rPr>
              <a:t>Finite state machine</a:t>
            </a:r>
          </a:p>
        </p:txBody>
      </p:sp>
      <p:sp>
        <p:nvSpPr>
          <p:cNvPr id="8" name="Decision">
            <a:extLst xmlns:a="http://schemas.openxmlformats.org/drawingml/2006/main">
              <a:ext uri="{FF2B5EF4-FFF2-40B4-BE49-F238E27FC236}">
                <a16:creationId xmlns:a16="http://schemas.microsoft.com/office/drawing/2014/main" id="{D252CCB8-40D3-4842-AE13-EEC11B8EEB91}"/>
              </a:ext>
            </a:extLst>
          </p:cNvPr>
          <p:cNvSpPr>
            <a:spLocks xmlns:a="http://schemas.openxmlformats.org/drawingml/2006/main" noGrp="1"/>
          </p:cNvSpPr>
          <p:nvPr/>
        </p:nvSpPr>
        <p:spPr>
          <a:xfrm xmlns:a="http://schemas.openxmlformats.org/drawingml/2006/main">
            <a:off x="609600" y="4191000"/>
            <a:ext cx="495300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DCE2E6"/>
                </a:solidFill>
              </a:defRPr>
            </a:defPPr>
            <a:lvl1pPr algn="l">
              <a:defRPr sz="1800" b="0">
                <a:solidFill>
                  <a:srgbClr val="DCE2E6"/>
                </a:solidFill>
              </a:defRPr>
            </a:lvl1pPr>
            <a:lvl2pPr algn="l">
              <a:defRPr sz="1800" b="0">
                <a:solidFill>
                  <a:srgbClr val="DCE2E6"/>
                </a:solidFill>
              </a:defRPr>
            </a:lvl2pPr>
            <a:lvl3pPr algn="l">
              <a:defRPr sz="1800" b="0">
                <a:solidFill>
                  <a:srgbClr val="DCE2E6"/>
                </a:solidFill>
              </a:defRPr>
            </a:lvl3pPr>
            <a:lvl4pPr algn="l">
              <a:defRPr sz="1800" b="0">
                <a:solidFill>
                  <a:srgbClr val="DCE2E6"/>
                </a:solidFill>
              </a:defRPr>
            </a:lvl4pPr>
            <a:lvl5pPr algn="l">
              <a:defRPr sz="1800" b="0">
                <a:solidFill>
                  <a:srgbClr val="DCE2E6"/>
                </a:solidFill>
              </a:defRPr>
            </a:lvl5pPr>
            <a:lvl6pPr algn="l">
              <a:defRPr sz="1800" b="0">
                <a:solidFill>
                  <a:srgbClr val="DCE2E6"/>
                </a:solidFill>
              </a:defRPr>
            </a:lvl6pPr>
            <a:lvl7pPr algn="l">
              <a:defRPr sz="1800" b="0">
                <a:solidFill>
                  <a:srgbClr val="DCE2E6"/>
                </a:solidFill>
              </a:defRPr>
            </a:lvl7pPr>
            <a:lvl8pPr algn="l">
              <a:defRPr sz="1800" b="0">
                <a:solidFill>
                  <a:srgbClr val="DCE2E6"/>
                </a:solidFill>
              </a:defRPr>
            </a:lvl8pPr>
            <a:lvl9pPr algn="l">
              <a:defRPr sz="1800" b="0">
                <a:solidFill>
                  <a:srgbClr val="DCE2E6"/>
                </a:solidFill>
              </a:defRPr>
            </a:lvl9pPr>
          </a:lstStyle>
          <a:p xmlns:a="http://schemas.openxmlformats.org/drawingml/2006/main">
            <a:pPr algn="l">
              <a:defRPr sz="1800" b="0">
                <a:solidFill>
                  <a:srgbClr val="DCE2E6"/>
                </a:solidFill>
              </a:defRPr>
            </a:pPr>
            <a:r>
              <a:rPr sz="1800" b="0">
                <a:solidFill>
                  <a:srgbClr val="DCE2E6"/>
                </a:solidFill>
              </a:rPr>
              <a:t>Detection starts an alert.</a:t>
            </a:r>
          </a:p>
          <a:p xmlns:a="http://schemas.openxmlformats.org/drawingml/2006/main">
            <a:pPr algn="l">
              <a:defRPr sz="1800" b="0">
                <a:solidFill>
                  <a:srgbClr val="DCE2E6"/>
                </a:solidFill>
              </a:defRPr>
            </a:pPr>
            <a:r>
              <a:rPr sz="1800" b="0">
                <a:solidFill>
                  <a:srgbClr val="DCE2E6"/>
                </a:solidFill>
              </a:rPr>
              <a:t>The enemy can chase and attack.</a:t>
            </a:r>
          </a:p>
          <a:p xmlns:a="http://schemas.openxmlformats.org/drawingml/2006/main">
            <a:pPr algn="l">
              <a:defRPr sz="1800" b="0">
                <a:solidFill>
                  <a:srgbClr val="DCE2E6"/>
                </a:solidFill>
              </a:defRPr>
            </a:pPr>
            <a:r>
              <a:rPr sz="1800" b="0">
                <a:solidFill>
                  <a:srgbClr val="DCE2E6"/>
                </a:solidFill>
              </a:rPr>
              <a:t>After losing sight, it searches</a:t>
            </a:r>
          </a:p>
          <a:p xmlns:a="http://schemas.openxmlformats.org/drawingml/2006/main">
            <a:pPr algn="l">
              <a:defRPr sz="1800" b="0">
                <a:solidFill>
                  <a:srgbClr val="DCE2E6"/>
                </a:solidFill>
              </a:defRPr>
            </a:pPr>
            <a:r>
              <a:rPr sz="1800" b="0">
                <a:solidFill>
                  <a:srgbClr val="DCE2E6"/>
                </a:solidFill>
              </a:rPr>
              <a:t>its last known target position.</a:t>
            </a:r>
          </a:p>
        </p:txBody>
      </p:sp>
      <p:pic>
        <p:nvPicPr>
          <p:cNvPr id="9" name="">
            <a:extLst xmlns:a="http://schemas.openxmlformats.org/drawingml/2006/main">
              <a:ext uri="{FF2B5EF4-FFF2-40B4-BE49-F238E27FC236}">
                <a16:creationId xmlns:a16="http://schemas.microsoft.com/office/drawing/2014/main" id="{B9D4BAA7-3A8B-44EE-B85A-87F38AD8BC9B}"/>
              </a:ext>
            </a:extLst>
          </p:cNvPr>
          <p:cNvPicPr>
            <a:picLocks xmlns:a="http://schemas.openxmlformats.org/drawingml/2006/main" noChangeAspect="1"/>
          </p:cNvPicPr>
          <p:nvPr/>
        </p:nvPicPr>
        <p:blipFill>
          <a:blip xmlns:r="http://schemas.openxmlformats.org/officeDocument/2006/relationships" xmlns:a="http://schemas.openxmlformats.org/drawingml/2006/main" r:embed="R0cb14d67ea7d4af3"/>
          <a:srcRect xmlns:a="http://schemas.openxmlformats.org/drawingml/2006/main" l="16406" t="31944" r="41406" b="11667"/>
          <a:stretch xmlns:a="http://schemas.openxmlformats.org/drawingml/2006/main"/>
        </p:blipFill>
        <p:spPr>
          <a:xfrm xmlns:a="http://schemas.openxmlformats.org/drawingml/2006/main">
            <a:off x="6191250" y="1943100"/>
            <a:ext cx="5391150" cy="4048125"/>
          </a:xfrm>
          <a:prstGeom xmlns:a="http://schemas.openxmlformats.org/drawingml/2006/main" prst="rect">
            <a:avLst/>
          </a:prstGeom>
        </p:spPr>
      </p:pic>
      <p:sp>
        <p:nvSpPr>
          <p:cNvPr id="10" name="Observed state">
            <a:extLst xmlns:a="http://schemas.openxmlformats.org/drawingml/2006/main">
              <a:ext uri="{FF2B5EF4-FFF2-40B4-BE49-F238E27FC236}">
                <a16:creationId xmlns:a16="http://schemas.microsoft.com/office/drawing/2014/main" id="{DE038ECE-24A0-4540-9E30-A5B376869163}"/>
              </a:ext>
            </a:extLst>
          </p:cNvPr>
          <p:cNvSpPr>
            <a:spLocks xmlns:a="http://schemas.openxmlformats.org/drawingml/2006/main" noGrp="1"/>
          </p:cNvSpPr>
          <p:nvPr/>
        </p:nvSpPr>
        <p:spPr>
          <a:xfrm xmlns:a="http://schemas.openxmlformats.org/drawingml/2006/main">
            <a:off x="6381750" y="6000750"/>
            <a:ext cx="52006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950" b="1">
                <a:solidFill>
                  <a:srgbClr val="FFC16A"/>
                </a:solidFill>
              </a:defRPr>
            </a:defPPr>
            <a:lvl1pPr algn="l">
              <a:defRPr sz="1950" b="1">
                <a:solidFill>
                  <a:srgbClr val="FFC16A"/>
                </a:solidFill>
              </a:defRPr>
            </a:lvl1pPr>
            <a:lvl2pPr algn="l">
              <a:defRPr sz="1950" b="1">
                <a:solidFill>
                  <a:srgbClr val="FFC16A"/>
                </a:solidFill>
              </a:defRPr>
            </a:lvl2pPr>
            <a:lvl3pPr algn="l">
              <a:defRPr sz="1950" b="1">
                <a:solidFill>
                  <a:srgbClr val="FFC16A"/>
                </a:solidFill>
              </a:defRPr>
            </a:lvl3pPr>
            <a:lvl4pPr algn="l">
              <a:defRPr sz="1950" b="1">
                <a:solidFill>
                  <a:srgbClr val="FFC16A"/>
                </a:solidFill>
              </a:defRPr>
            </a:lvl4pPr>
            <a:lvl5pPr algn="l">
              <a:defRPr sz="1950" b="1">
                <a:solidFill>
                  <a:srgbClr val="FFC16A"/>
                </a:solidFill>
              </a:defRPr>
            </a:lvl5pPr>
            <a:lvl6pPr algn="l">
              <a:defRPr sz="1950" b="1">
                <a:solidFill>
                  <a:srgbClr val="FFC16A"/>
                </a:solidFill>
              </a:defRPr>
            </a:lvl6pPr>
            <a:lvl7pPr algn="l">
              <a:defRPr sz="1950" b="1">
                <a:solidFill>
                  <a:srgbClr val="FFC16A"/>
                </a:solidFill>
              </a:defRPr>
            </a:lvl7pPr>
            <a:lvl8pPr algn="l">
              <a:defRPr sz="1950" b="1">
                <a:solidFill>
                  <a:srgbClr val="FFC16A"/>
                </a:solidFill>
              </a:defRPr>
            </a:lvl8pPr>
            <a:lvl9pPr algn="l">
              <a:defRPr sz="1950" b="1">
                <a:solidFill>
                  <a:srgbClr val="FFC16A"/>
                </a:solidFill>
              </a:defRPr>
            </a:lvl9pPr>
          </a:lstStyle>
          <a:p xmlns:a="http://schemas.openxmlformats.org/drawingml/2006/main">
            <a:pPr algn="l">
              <a:defRPr sz="1950" b="1">
                <a:solidFill>
                  <a:srgbClr val="FFC16A"/>
                </a:solidFill>
              </a:defRPr>
            </a:pPr>
            <a:r>
              <a:rPr sz="1950" b="1">
                <a:solidFill>
                  <a:srgbClr val="FFC16A"/>
                </a:solidFill>
              </a:rPr>
              <a:t>Observed state: ATTACK</a:t>
            </a:r>
          </a:p>
        </p:txBody>
      </p:sp>
      <p:sp>
        <p:nvSpPr>
          <p:cNvPr id="11" name="Campaign distinction">
            <a:extLst xmlns:a="http://schemas.openxmlformats.org/drawingml/2006/main">
              <a:ext uri="{FF2B5EF4-FFF2-40B4-BE49-F238E27FC236}">
                <a16:creationId xmlns:a16="http://schemas.microsoft.com/office/drawing/2014/main" id="{A9B0CC7B-859A-4510-9B15-62422F71AA71}"/>
              </a:ext>
            </a:extLst>
          </p:cNvPr>
          <p:cNvSpPr>
            <a:spLocks xmlns:a="http://schemas.openxmlformats.org/drawingml/2006/main" noGrp="1"/>
          </p:cNvSpPr>
          <p:nvPr/>
        </p:nvSpPr>
        <p:spPr>
          <a:xfrm xmlns:a="http://schemas.openxmlformats.org/drawingml/2006/main">
            <a:off x="609600" y="6419850"/>
            <a:ext cx="1000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0">
                <a:solidFill>
                  <a:srgbClr val="AAB8C1"/>
                </a:solidFill>
              </a:defRPr>
            </a:defPPr>
            <a:lvl1pPr algn="l">
              <a:defRPr sz="1500" b="0">
                <a:solidFill>
                  <a:srgbClr val="AAB8C1"/>
                </a:solidFill>
              </a:defRPr>
            </a:lvl1pPr>
            <a:lvl2pPr algn="l">
              <a:defRPr sz="1500" b="0">
                <a:solidFill>
                  <a:srgbClr val="AAB8C1"/>
                </a:solidFill>
              </a:defRPr>
            </a:lvl2pPr>
            <a:lvl3pPr algn="l">
              <a:defRPr sz="1500" b="0">
                <a:solidFill>
                  <a:srgbClr val="AAB8C1"/>
                </a:solidFill>
              </a:defRPr>
            </a:lvl3pPr>
            <a:lvl4pPr algn="l">
              <a:defRPr sz="1500" b="0">
                <a:solidFill>
                  <a:srgbClr val="AAB8C1"/>
                </a:solidFill>
              </a:defRPr>
            </a:lvl4pPr>
            <a:lvl5pPr algn="l">
              <a:defRPr sz="1500" b="0">
                <a:solidFill>
                  <a:srgbClr val="AAB8C1"/>
                </a:solidFill>
              </a:defRPr>
            </a:lvl5pPr>
            <a:lvl6pPr algn="l">
              <a:defRPr sz="1500" b="0">
                <a:solidFill>
                  <a:srgbClr val="AAB8C1"/>
                </a:solidFill>
              </a:defRPr>
            </a:lvl6pPr>
            <a:lvl7pPr algn="l">
              <a:defRPr sz="1500" b="0">
                <a:solidFill>
                  <a:srgbClr val="AAB8C1"/>
                </a:solidFill>
              </a:defRPr>
            </a:lvl7pPr>
            <a:lvl8pPr algn="l">
              <a:defRPr sz="1500" b="0">
                <a:solidFill>
                  <a:srgbClr val="AAB8C1"/>
                </a:solidFill>
              </a:defRPr>
            </a:lvl8pPr>
            <a:lvl9pPr algn="l">
              <a:defRPr sz="1500" b="0">
                <a:solidFill>
                  <a:srgbClr val="AAB8C1"/>
                </a:solidFill>
              </a:defRPr>
            </a:lvl9pPr>
          </a:lstStyle>
          <a:p xmlns:a="http://schemas.openxmlformats.org/drawingml/2006/main">
            <a:pPr algn="l">
              <a:defRPr sz="1500" b="0">
                <a:solidFill>
                  <a:srgbClr val="AAB8C1"/>
                </a:solidFill>
              </a:defRPr>
            </a:pPr>
            <a:r>
              <a:rPr sz="1500" b="0">
                <a:solidFill>
                  <a:srgbClr val="AAB8C1"/>
                </a:solidFill>
              </a:rPr>
              <a:t>Lab attacks are harmless. Campaign attacks cause damage.</a:t>
            </a:r>
          </a:p>
        </p:txBody>
      </p:sp>
    </p:spTree>
    <p:extLst>
      <p:ext uri="{BB962C8B-B14F-4D97-AF65-F5344CB8AC3E}">
        <p14:creationId xmlns:p14="http://schemas.microsoft.com/office/powerpoint/2010/main" val="1217267454"/>
      </p:ext>
    </p:extLst>
  </p:cSld>
</p:sld>
</file>

<file path=ppt/slides/slide6.xml><?xml version="1.0" encoding="utf-8"?>
<p:sld xmlns:p="http://schemas.openxmlformats.org/presentationml/2006/main">
  <p:cSld>
    <p:bg>
      <p:bgPr>
        <a:solidFill xmlns:a="http://schemas.openxmlformats.org/drawingml/2006/main">
          <a:srgbClr val="0B0D12"/>
        </a:solidFill>
      </p:bgPr>
    </p:bg>
    <p:spTree>
      <p:nvGrpSpPr>
        <p:cNvPr id="1" name=""/>
        <p:cNvGrpSpPr/>
        <p:nvPr/>
      </p:nvGrpSpPr>
      <p:grpSpPr>
        <a:xfrm xmlns:a="http://schemas.openxmlformats.org/drawingml/2006/main"/>
      </p:grpSpPr>
      <p:sp>
        <p:nvSpPr>
          <p:cNvPr id="2" name="Slide title">
            <a:extLst xmlns:a="http://schemas.openxmlformats.org/drawingml/2006/main">
              <a:ext uri="{FF2B5EF4-FFF2-40B4-BE49-F238E27FC236}">
                <a16:creationId xmlns:a16="http://schemas.microsoft.com/office/drawing/2014/main" id="{89D052E0-B691-4DBD-8B2B-5BFD555C489E}"/>
              </a:ext>
            </a:extLst>
          </p:cNvPr>
          <p:cNvSpPr>
            <a:spLocks xmlns:a="http://schemas.openxmlformats.org/drawingml/2006/main" noGrp="1"/>
          </p:cNvSpPr>
          <p:nvPr/>
        </p:nvSpPr>
        <p:spPr>
          <a:xfrm xmlns:a="http://schemas.openxmlformats.org/drawingml/2006/main">
            <a:off x="609600" y="457200"/>
            <a:ext cx="10972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750" b="1">
                <a:solidFill>
                  <a:srgbClr val="F0E2CA"/>
                </a:solidFill>
              </a:defRPr>
            </a:defPPr>
            <a:lvl1pPr algn="l">
              <a:defRPr sz="3750" b="1">
                <a:solidFill>
                  <a:srgbClr val="F0E2CA"/>
                </a:solidFill>
              </a:defRPr>
            </a:lvl1pPr>
            <a:lvl2pPr algn="l">
              <a:defRPr sz="3750" b="1">
                <a:solidFill>
                  <a:srgbClr val="F0E2CA"/>
                </a:solidFill>
              </a:defRPr>
            </a:lvl2pPr>
            <a:lvl3pPr algn="l">
              <a:defRPr sz="3750" b="1">
                <a:solidFill>
                  <a:srgbClr val="F0E2CA"/>
                </a:solidFill>
              </a:defRPr>
            </a:lvl3pPr>
            <a:lvl4pPr algn="l">
              <a:defRPr sz="3750" b="1">
                <a:solidFill>
                  <a:srgbClr val="F0E2CA"/>
                </a:solidFill>
              </a:defRPr>
            </a:lvl4pPr>
            <a:lvl5pPr algn="l">
              <a:defRPr sz="3750" b="1">
                <a:solidFill>
                  <a:srgbClr val="F0E2CA"/>
                </a:solidFill>
              </a:defRPr>
            </a:lvl5pPr>
            <a:lvl6pPr algn="l">
              <a:defRPr sz="3750" b="1">
                <a:solidFill>
                  <a:srgbClr val="F0E2CA"/>
                </a:solidFill>
              </a:defRPr>
            </a:lvl6pPr>
            <a:lvl7pPr algn="l">
              <a:defRPr sz="3750" b="1">
                <a:solidFill>
                  <a:srgbClr val="F0E2CA"/>
                </a:solidFill>
              </a:defRPr>
            </a:lvl7pPr>
            <a:lvl8pPr algn="l">
              <a:defRPr sz="3750" b="1">
                <a:solidFill>
                  <a:srgbClr val="F0E2CA"/>
                </a:solidFill>
              </a:defRPr>
            </a:lvl8pPr>
            <a:lvl9pPr algn="l">
              <a:defRPr sz="3750" b="1">
                <a:solidFill>
                  <a:srgbClr val="F0E2CA"/>
                </a:solidFill>
              </a:defRPr>
            </a:lvl9pPr>
          </a:lstStyle>
          <a:p xmlns:a="http://schemas.openxmlformats.org/drawingml/2006/main">
            <a:pPr algn="l">
              <a:defRPr sz="3750" b="1">
                <a:solidFill>
                  <a:srgbClr val="F0E2CA"/>
                </a:solidFill>
              </a:defRPr>
            </a:pPr>
            <a:r>
              <a:rPr sz="3750" b="1">
                <a:solidFill>
                  <a:srgbClr val="F0E2CA"/>
                </a:solidFill>
              </a:rPr>
              <a:t>More AI experiments</a:t>
            </a:r>
          </a:p>
        </p:txBody>
      </p:sp>
      <p:sp>
        <p:nvSpPr>
          <p:cNvPr id="3" name="Page number">
            <a:extLst xmlns:a="http://schemas.openxmlformats.org/drawingml/2006/main">
              <a:ext uri="{FF2B5EF4-FFF2-40B4-BE49-F238E27FC236}">
                <a16:creationId xmlns:a16="http://schemas.microsoft.com/office/drawing/2014/main" id="{BEDD24E2-52EC-44B9-8261-5DFB252D0F2A}"/>
              </a:ext>
            </a:extLst>
          </p:cNvPr>
          <p:cNvSpPr>
            <a:spLocks xmlns:a="http://schemas.openxmlformats.org/drawingml/2006/main" noGrp="1"/>
          </p:cNvSpPr>
          <p:nvPr/>
        </p:nvSpPr>
        <p:spPr>
          <a:xfrm xmlns:a="http://schemas.openxmlformats.org/drawingml/2006/main">
            <a:off x="11144250" y="641985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0">
                <a:solidFill>
                  <a:srgbClr val="AAB8C1"/>
                </a:solidFill>
              </a:defRPr>
            </a:defPPr>
            <a:lvl1pPr algn="l">
              <a:defRPr sz="1500" b="0">
                <a:solidFill>
                  <a:srgbClr val="AAB8C1"/>
                </a:solidFill>
              </a:defRPr>
            </a:lvl1pPr>
            <a:lvl2pPr algn="l">
              <a:defRPr sz="1500" b="0">
                <a:solidFill>
                  <a:srgbClr val="AAB8C1"/>
                </a:solidFill>
              </a:defRPr>
            </a:lvl2pPr>
            <a:lvl3pPr algn="l">
              <a:defRPr sz="1500" b="0">
                <a:solidFill>
                  <a:srgbClr val="AAB8C1"/>
                </a:solidFill>
              </a:defRPr>
            </a:lvl3pPr>
            <a:lvl4pPr algn="l">
              <a:defRPr sz="1500" b="0">
                <a:solidFill>
                  <a:srgbClr val="AAB8C1"/>
                </a:solidFill>
              </a:defRPr>
            </a:lvl4pPr>
            <a:lvl5pPr algn="l">
              <a:defRPr sz="1500" b="0">
                <a:solidFill>
                  <a:srgbClr val="AAB8C1"/>
                </a:solidFill>
              </a:defRPr>
            </a:lvl5pPr>
            <a:lvl6pPr algn="l">
              <a:defRPr sz="1500" b="0">
                <a:solidFill>
                  <a:srgbClr val="AAB8C1"/>
                </a:solidFill>
              </a:defRPr>
            </a:lvl6pPr>
            <a:lvl7pPr algn="l">
              <a:defRPr sz="1500" b="0">
                <a:solidFill>
                  <a:srgbClr val="AAB8C1"/>
                </a:solidFill>
              </a:defRPr>
            </a:lvl7pPr>
            <a:lvl8pPr algn="l">
              <a:defRPr sz="1500" b="0">
                <a:solidFill>
                  <a:srgbClr val="AAB8C1"/>
                </a:solidFill>
              </a:defRPr>
            </a:lvl8pPr>
            <a:lvl9pPr algn="l">
              <a:defRPr sz="1500" b="0">
                <a:solidFill>
                  <a:srgbClr val="AAB8C1"/>
                </a:solidFill>
              </a:defRPr>
            </a:lvl9pPr>
          </a:lstStyle>
          <a:p xmlns:a="http://schemas.openxmlformats.org/drawingml/2006/main">
            <a:pPr algn="l">
              <a:defRPr sz="1500" b="0">
                <a:solidFill>
                  <a:srgbClr val="AAB8C1"/>
                </a:solidFill>
              </a:defRPr>
            </a:pPr>
            <a:r>
              <a:rPr sz="1500" b="0">
                <a:solidFill>
                  <a:srgbClr val="AAB8C1"/>
                </a:solidFill>
              </a:rPr>
              <a:t>06</a:t>
            </a:r>
          </a:p>
        </p:txBody>
      </p:sp>
      <p:sp>
        <p:nvSpPr>
          <p:cNvPr id="4" name="Minimax heading">
            <a:extLst xmlns:a="http://schemas.openxmlformats.org/drawingml/2006/main">
              <a:ext uri="{FF2B5EF4-FFF2-40B4-BE49-F238E27FC236}">
                <a16:creationId xmlns:a16="http://schemas.microsoft.com/office/drawing/2014/main" id="{6B1C8027-2CE8-4429-899E-D065ED4B6C16}"/>
              </a:ext>
            </a:extLst>
          </p:cNvPr>
          <p:cNvSpPr>
            <a:spLocks xmlns:a="http://schemas.openxmlformats.org/drawingml/2006/main" noGrp="1"/>
          </p:cNvSpPr>
          <p:nvPr/>
        </p:nvSpPr>
        <p:spPr>
          <a:xfrm xmlns:a="http://schemas.openxmlformats.org/drawingml/2006/main">
            <a:off x="609600" y="1457325"/>
            <a:ext cx="514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00" b="1">
                <a:solidFill>
                  <a:srgbClr val="FFC16A"/>
                </a:solidFill>
              </a:defRPr>
            </a:defPPr>
            <a:lvl1pPr algn="l">
              <a:defRPr sz="2100" b="1">
                <a:solidFill>
                  <a:srgbClr val="FFC16A"/>
                </a:solidFill>
              </a:defRPr>
            </a:lvl1pPr>
            <a:lvl2pPr algn="l">
              <a:defRPr sz="2100" b="1">
                <a:solidFill>
                  <a:srgbClr val="FFC16A"/>
                </a:solidFill>
              </a:defRPr>
            </a:lvl2pPr>
            <a:lvl3pPr algn="l">
              <a:defRPr sz="2100" b="1">
                <a:solidFill>
                  <a:srgbClr val="FFC16A"/>
                </a:solidFill>
              </a:defRPr>
            </a:lvl3pPr>
            <a:lvl4pPr algn="l">
              <a:defRPr sz="2100" b="1">
                <a:solidFill>
                  <a:srgbClr val="FFC16A"/>
                </a:solidFill>
              </a:defRPr>
            </a:lvl4pPr>
            <a:lvl5pPr algn="l">
              <a:defRPr sz="2100" b="1">
                <a:solidFill>
                  <a:srgbClr val="FFC16A"/>
                </a:solidFill>
              </a:defRPr>
            </a:lvl5pPr>
            <a:lvl6pPr algn="l">
              <a:defRPr sz="2100" b="1">
                <a:solidFill>
                  <a:srgbClr val="FFC16A"/>
                </a:solidFill>
              </a:defRPr>
            </a:lvl6pPr>
            <a:lvl7pPr algn="l">
              <a:defRPr sz="2100" b="1">
                <a:solidFill>
                  <a:srgbClr val="FFC16A"/>
                </a:solidFill>
              </a:defRPr>
            </a:lvl7pPr>
            <a:lvl8pPr algn="l">
              <a:defRPr sz="2100" b="1">
                <a:solidFill>
                  <a:srgbClr val="FFC16A"/>
                </a:solidFill>
              </a:defRPr>
            </a:lvl8pPr>
            <a:lvl9pPr algn="l">
              <a:defRPr sz="2100" b="1">
                <a:solidFill>
                  <a:srgbClr val="FFC16A"/>
                </a:solidFill>
              </a:defRPr>
            </a:lvl9pPr>
          </a:lstStyle>
          <a:p xmlns:a="http://schemas.openxmlformats.org/drawingml/2006/main">
            <a:pPr algn="l">
              <a:defRPr sz="2100" b="1">
                <a:solidFill>
                  <a:srgbClr val="FFC16A"/>
                </a:solidFill>
              </a:defRPr>
            </a:pPr>
            <a:r>
              <a:rPr sz="2100" b="1">
                <a:solidFill>
                  <a:srgbClr val="FFC16A"/>
                </a:solidFill>
              </a:rPr>
              <a:t>Week 4  Minimax</a:t>
            </a:r>
          </a:p>
        </p:txBody>
      </p:sp>
      <p:sp>
        <p:nvSpPr>
          <p:cNvPr id="5" name="Minimax">
            <a:extLst xmlns:a="http://schemas.openxmlformats.org/drawingml/2006/main">
              <a:ext uri="{FF2B5EF4-FFF2-40B4-BE49-F238E27FC236}">
                <a16:creationId xmlns:a16="http://schemas.microsoft.com/office/drawing/2014/main" id="{C98422E4-8877-4CF3-AD8F-8A5DC29571EB}"/>
              </a:ext>
            </a:extLst>
          </p:cNvPr>
          <p:cNvSpPr>
            <a:spLocks xmlns:a="http://schemas.openxmlformats.org/drawingml/2006/main" noGrp="1"/>
          </p:cNvSpPr>
          <p:nvPr/>
        </p:nvSpPr>
        <p:spPr>
          <a:xfrm xmlns:a="http://schemas.openxmlformats.org/drawingml/2006/main">
            <a:off x="609600" y="1914525"/>
            <a:ext cx="5143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DCE2E6"/>
                </a:solidFill>
              </a:defRPr>
            </a:defPPr>
            <a:lvl1pPr algn="l">
              <a:defRPr sz="1800" b="0">
                <a:solidFill>
                  <a:srgbClr val="DCE2E6"/>
                </a:solidFill>
              </a:defRPr>
            </a:lvl1pPr>
            <a:lvl2pPr algn="l">
              <a:defRPr sz="1800" b="0">
                <a:solidFill>
                  <a:srgbClr val="DCE2E6"/>
                </a:solidFill>
              </a:defRPr>
            </a:lvl2pPr>
            <a:lvl3pPr algn="l">
              <a:defRPr sz="1800" b="0">
                <a:solidFill>
                  <a:srgbClr val="DCE2E6"/>
                </a:solidFill>
              </a:defRPr>
            </a:lvl3pPr>
            <a:lvl4pPr algn="l">
              <a:defRPr sz="1800" b="0">
                <a:solidFill>
                  <a:srgbClr val="DCE2E6"/>
                </a:solidFill>
              </a:defRPr>
            </a:lvl4pPr>
            <a:lvl5pPr algn="l">
              <a:defRPr sz="1800" b="0">
                <a:solidFill>
                  <a:srgbClr val="DCE2E6"/>
                </a:solidFill>
              </a:defRPr>
            </a:lvl5pPr>
            <a:lvl6pPr algn="l">
              <a:defRPr sz="1800" b="0">
                <a:solidFill>
                  <a:srgbClr val="DCE2E6"/>
                </a:solidFill>
              </a:defRPr>
            </a:lvl6pPr>
            <a:lvl7pPr algn="l">
              <a:defRPr sz="1800" b="0">
                <a:solidFill>
                  <a:srgbClr val="DCE2E6"/>
                </a:solidFill>
              </a:defRPr>
            </a:lvl7pPr>
            <a:lvl8pPr algn="l">
              <a:defRPr sz="1800" b="0">
                <a:solidFill>
                  <a:srgbClr val="DCE2E6"/>
                </a:solidFill>
              </a:defRPr>
            </a:lvl8pPr>
            <a:lvl9pPr algn="l">
              <a:defRPr sz="1800" b="0">
                <a:solidFill>
                  <a:srgbClr val="DCE2E6"/>
                </a:solidFill>
              </a:defRPr>
            </a:lvl9pPr>
          </a:lstStyle>
          <a:p xmlns:a="http://schemas.openxmlformats.org/drawingml/2006/main">
            <a:pPr algn="l">
              <a:defRPr sz="1800" b="0">
                <a:solidFill>
                  <a:srgbClr val="DCE2E6"/>
                </a:solidFill>
              </a:defRPr>
            </a:pPr>
            <a:r>
              <a:rPr sz="1800" b="0">
                <a:solidFill>
                  <a:srgbClr val="DCE2E6"/>
                </a:solidFill>
              </a:rPr>
              <a:t>A rune guardian looks ahead in a duel.</a:t>
            </a:r>
          </a:p>
          <a:p xmlns:a="http://schemas.openxmlformats.org/drawingml/2006/main">
            <a:pPr algn="l">
              <a:defRPr sz="1800" b="0">
                <a:solidFill>
                  <a:srgbClr val="DCE2E6"/>
                </a:solidFill>
              </a:defRPr>
            </a:pPr>
            <a:r>
              <a:rPr sz="1800" b="0">
                <a:solidFill>
                  <a:srgbClr val="DCE2E6"/>
                </a:solidFill>
              </a:rPr>
              <a:t>Alpha-beta pruning reduces its search.</a:t>
            </a:r>
          </a:p>
        </p:txBody>
      </p:sp>
      <p:sp>
        <p:nvSpPr>
          <p:cNvPr id="6" name="Learning heading">
            <a:extLst xmlns:a="http://schemas.openxmlformats.org/drawingml/2006/main">
              <a:ext uri="{FF2B5EF4-FFF2-40B4-BE49-F238E27FC236}">
                <a16:creationId xmlns:a16="http://schemas.microsoft.com/office/drawing/2014/main" id="{03463591-09E3-41DB-9FD4-FDB62303CBA8}"/>
              </a:ext>
            </a:extLst>
          </p:cNvPr>
          <p:cNvSpPr>
            <a:spLocks xmlns:a="http://schemas.openxmlformats.org/drawingml/2006/main" noGrp="1"/>
          </p:cNvSpPr>
          <p:nvPr/>
        </p:nvSpPr>
        <p:spPr>
          <a:xfrm xmlns:a="http://schemas.openxmlformats.org/drawingml/2006/main">
            <a:off x="609600" y="3086100"/>
            <a:ext cx="514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00" b="1">
                <a:solidFill>
                  <a:srgbClr val="FFC16A"/>
                </a:solidFill>
              </a:defRPr>
            </a:defPPr>
            <a:lvl1pPr algn="l">
              <a:defRPr sz="2100" b="1">
                <a:solidFill>
                  <a:srgbClr val="FFC16A"/>
                </a:solidFill>
              </a:defRPr>
            </a:lvl1pPr>
            <a:lvl2pPr algn="l">
              <a:defRPr sz="2100" b="1">
                <a:solidFill>
                  <a:srgbClr val="FFC16A"/>
                </a:solidFill>
              </a:defRPr>
            </a:lvl2pPr>
            <a:lvl3pPr algn="l">
              <a:defRPr sz="2100" b="1">
                <a:solidFill>
                  <a:srgbClr val="FFC16A"/>
                </a:solidFill>
              </a:defRPr>
            </a:lvl3pPr>
            <a:lvl4pPr algn="l">
              <a:defRPr sz="2100" b="1">
                <a:solidFill>
                  <a:srgbClr val="FFC16A"/>
                </a:solidFill>
              </a:defRPr>
            </a:lvl4pPr>
            <a:lvl5pPr algn="l">
              <a:defRPr sz="2100" b="1">
                <a:solidFill>
                  <a:srgbClr val="FFC16A"/>
                </a:solidFill>
              </a:defRPr>
            </a:lvl5pPr>
            <a:lvl6pPr algn="l">
              <a:defRPr sz="2100" b="1">
                <a:solidFill>
                  <a:srgbClr val="FFC16A"/>
                </a:solidFill>
              </a:defRPr>
            </a:lvl6pPr>
            <a:lvl7pPr algn="l">
              <a:defRPr sz="2100" b="1">
                <a:solidFill>
                  <a:srgbClr val="FFC16A"/>
                </a:solidFill>
              </a:defRPr>
            </a:lvl7pPr>
            <a:lvl8pPr algn="l">
              <a:defRPr sz="2100" b="1">
                <a:solidFill>
                  <a:srgbClr val="FFC16A"/>
                </a:solidFill>
              </a:defRPr>
            </a:lvl8pPr>
            <a:lvl9pPr algn="l">
              <a:defRPr sz="2100" b="1">
                <a:solidFill>
                  <a:srgbClr val="FFC16A"/>
                </a:solidFill>
              </a:defRPr>
            </a:lvl9pPr>
          </a:lstStyle>
          <a:p xmlns:a="http://schemas.openxmlformats.org/drawingml/2006/main">
            <a:pPr algn="l">
              <a:defRPr sz="2100" b="1">
                <a:solidFill>
                  <a:srgbClr val="FFC16A"/>
                </a:solidFill>
              </a:defRPr>
            </a:pPr>
            <a:r>
              <a:rPr sz="2100" b="1">
                <a:solidFill>
                  <a:srgbClr val="FFC16A"/>
                </a:solidFill>
              </a:rPr>
              <a:t>Week 5  Q-learning</a:t>
            </a:r>
          </a:p>
        </p:txBody>
      </p:sp>
      <p:sp>
        <p:nvSpPr>
          <p:cNvPr id="7" name="Learning">
            <a:extLst xmlns:a="http://schemas.openxmlformats.org/drawingml/2006/main">
              <a:ext uri="{FF2B5EF4-FFF2-40B4-BE49-F238E27FC236}">
                <a16:creationId xmlns:a16="http://schemas.microsoft.com/office/drawing/2014/main" id="{159E160B-4E64-4DAA-A58E-19FCCEA51081}"/>
              </a:ext>
            </a:extLst>
          </p:cNvPr>
          <p:cNvSpPr>
            <a:spLocks xmlns:a="http://schemas.openxmlformats.org/drawingml/2006/main" noGrp="1"/>
          </p:cNvSpPr>
          <p:nvPr/>
        </p:nvSpPr>
        <p:spPr>
          <a:xfrm xmlns:a="http://schemas.openxmlformats.org/drawingml/2006/main">
            <a:off x="609600" y="3543300"/>
            <a:ext cx="51435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DCE2E6"/>
                </a:solidFill>
              </a:defRPr>
            </a:defPPr>
            <a:lvl1pPr algn="l">
              <a:defRPr sz="1800" b="0">
                <a:solidFill>
                  <a:srgbClr val="DCE2E6"/>
                </a:solidFill>
              </a:defRPr>
            </a:lvl1pPr>
            <a:lvl2pPr algn="l">
              <a:defRPr sz="1800" b="0">
                <a:solidFill>
                  <a:srgbClr val="DCE2E6"/>
                </a:solidFill>
              </a:defRPr>
            </a:lvl2pPr>
            <a:lvl3pPr algn="l">
              <a:defRPr sz="1800" b="0">
                <a:solidFill>
                  <a:srgbClr val="DCE2E6"/>
                </a:solidFill>
              </a:defRPr>
            </a:lvl3pPr>
            <a:lvl4pPr algn="l">
              <a:defRPr sz="1800" b="0">
                <a:solidFill>
                  <a:srgbClr val="DCE2E6"/>
                </a:solidFill>
              </a:defRPr>
            </a:lvl4pPr>
            <a:lvl5pPr algn="l">
              <a:defRPr sz="1800" b="0">
                <a:solidFill>
                  <a:srgbClr val="DCE2E6"/>
                </a:solidFill>
              </a:defRPr>
            </a:lvl5pPr>
            <a:lvl6pPr algn="l">
              <a:defRPr sz="1800" b="0">
                <a:solidFill>
                  <a:srgbClr val="DCE2E6"/>
                </a:solidFill>
              </a:defRPr>
            </a:lvl6pPr>
            <a:lvl7pPr algn="l">
              <a:defRPr sz="1800" b="0">
                <a:solidFill>
                  <a:srgbClr val="DCE2E6"/>
                </a:solidFill>
              </a:defRPr>
            </a:lvl7pPr>
            <a:lvl8pPr algn="l">
              <a:defRPr sz="1800" b="0">
                <a:solidFill>
                  <a:srgbClr val="DCE2E6"/>
                </a:solidFill>
              </a:defRPr>
            </a:lvl8pPr>
            <a:lvl9pPr algn="l">
              <a:defRPr sz="1800" b="0">
                <a:solidFill>
                  <a:srgbClr val="DCE2E6"/>
                </a:solidFill>
              </a:defRPr>
            </a:lvl9pPr>
          </a:lstStyle>
          <a:p xmlns:a="http://schemas.openxmlformats.org/drawingml/2006/main">
            <a:pPr algn="l">
              <a:defRPr sz="1800" b="0">
                <a:solidFill>
                  <a:srgbClr val="DCE2E6"/>
                </a:solidFill>
              </a:defRPr>
            </a:pPr>
            <a:r>
              <a:rPr sz="1800" b="0">
                <a:solidFill>
                  <a:srgbClr val="DCE2E6"/>
                </a:solidFill>
              </a:rPr>
              <a:t>An agent learns from rewards.</a:t>
            </a:r>
          </a:p>
          <a:p xmlns:a="http://schemas.openxmlformats.org/drawingml/2006/main">
            <a:pPr algn="l">
              <a:defRPr sz="1800" b="0">
                <a:solidFill>
                  <a:srgbClr val="DCE2E6"/>
                </a:solidFill>
              </a:defRPr>
            </a:pPr>
            <a:r>
              <a:rPr sz="1800" b="0">
                <a:solidFill>
                  <a:srgbClr val="DCE2E6"/>
                </a:solidFill>
              </a:rPr>
              <a:t>Users change the training settings</a:t>
            </a:r>
          </a:p>
          <a:p xmlns:a="http://schemas.openxmlformats.org/drawingml/2006/main">
            <a:pPr algn="l">
              <a:defRPr sz="1800" b="0">
                <a:solidFill>
                  <a:srgbClr val="DCE2E6"/>
                </a:solidFill>
              </a:defRPr>
            </a:pPr>
            <a:r>
              <a:rPr sz="1800" b="0">
                <a:solidFill>
                  <a:srgbClr val="DCE2E6"/>
                </a:solidFill>
              </a:rPr>
              <a:t>and inspect its learned policy.</a:t>
            </a:r>
          </a:p>
        </p:txBody>
      </p:sp>
      <p:sp>
        <p:nvSpPr>
          <p:cNvPr id="8" name="Probability heading">
            <a:extLst xmlns:a="http://schemas.openxmlformats.org/drawingml/2006/main">
              <a:ext uri="{FF2B5EF4-FFF2-40B4-BE49-F238E27FC236}">
                <a16:creationId xmlns:a16="http://schemas.microsoft.com/office/drawing/2014/main" id="{99227CC9-4C71-4CF1-9655-4FD911941955}"/>
              </a:ext>
            </a:extLst>
          </p:cNvPr>
          <p:cNvSpPr>
            <a:spLocks xmlns:a="http://schemas.openxmlformats.org/drawingml/2006/main" noGrp="1"/>
          </p:cNvSpPr>
          <p:nvPr/>
        </p:nvSpPr>
        <p:spPr>
          <a:xfrm xmlns:a="http://schemas.openxmlformats.org/drawingml/2006/main">
            <a:off x="609600" y="5057775"/>
            <a:ext cx="514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00" b="1">
                <a:solidFill>
                  <a:srgbClr val="FFC16A"/>
                </a:solidFill>
              </a:defRPr>
            </a:defPPr>
            <a:lvl1pPr algn="l">
              <a:defRPr sz="2100" b="1">
                <a:solidFill>
                  <a:srgbClr val="FFC16A"/>
                </a:solidFill>
              </a:defRPr>
            </a:lvl1pPr>
            <a:lvl2pPr algn="l">
              <a:defRPr sz="2100" b="1">
                <a:solidFill>
                  <a:srgbClr val="FFC16A"/>
                </a:solidFill>
              </a:defRPr>
            </a:lvl2pPr>
            <a:lvl3pPr algn="l">
              <a:defRPr sz="2100" b="1">
                <a:solidFill>
                  <a:srgbClr val="FFC16A"/>
                </a:solidFill>
              </a:defRPr>
            </a:lvl3pPr>
            <a:lvl4pPr algn="l">
              <a:defRPr sz="2100" b="1">
                <a:solidFill>
                  <a:srgbClr val="FFC16A"/>
                </a:solidFill>
              </a:defRPr>
            </a:lvl4pPr>
            <a:lvl5pPr algn="l">
              <a:defRPr sz="2100" b="1">
                <a:solidFill>
                  <a:srgbClr val="FFC16A"/>
                </a:solidFill>
              </a:defRPr>
            </a:lvl5pPr>
            <a:lvl6pPr algn="l">
              <a:defRPr sz="2100" b="1">
                <a:solidFill>
                  <a:srgbClr val="FFC16A"/>
                </a:solidFill>
              </a:defRPr>
            </a:lvl6pPr>
            <a:lvl7pPr algn="l">
              <a:defRPr sz="2100" b="1">
                <a:solidFill>
                  <a:srgbClr val="FFC16A"/>
                </a:solidFill>
              </a:defRPr>
            </a:lvl7pPr>
            <a:lvl8pPr algn="l">
              <a:defRPr sz="2100" b="1">
                <a:solidFill>
                  <a:srgbClr val="FFC16A"/>
                </a:solidFill>
              </a:defRPr>
            </a:lvl8pPr>
            <a:lvl9pPr algn="l">
              <a:defRPr sz="2100" b="1">
                <a:solidFill>
                  <a:srgbClr val="FFC16A"/>
                </a:solidFill>
              </a:defRPr>
            </a:lvl9pPr>
          </a:lstStyle>
          <a:p xmlns:a="http://schemas.openxmlformats.org/drawingml/2006/main">
            <a:pPr algn="l">
              <a:defRPr sz="2100" b="1">
                <a:solidFill>
                  <a:srgbClr val="FFC16A"/>
                </a:solidFill>
              </a:defRPr>
            </a:pPr>
            <a:r>
              <a:rPr sz="2100" b="1">
                <a:solidFill>
                  <a:srgbClr val="FFC16A"/>
                </a:solidFill>
              </a:rPr>
              <a:t>Week 6  Probability</a:t>
            </a:r>
          </a:p>
        </p:txBody>
      </p:sp>
      <p:sp>
        <p:nvSpPr>
          <p:cNvPr id="9" name="Probability">
            <a:extLst xmlns:a="http://schemas.openxmlformats.org/drawingml/2006/main">
              <a:ext uri="{FF2B5EF4-FFF2-40B4-BE49-F238E27FC236}">
                <a16:creationId xmlns:a16="http://schemas.microsoft.com/office/drawing/2014/main" id="{935FDDDC-5EB1-4FBD-B18B-76B08636FAEF}"/>
              </a:ext>
            </a:extLst>
          </p:cNvPr>
          <p:cNvSpPr>
            <a:spLocks xmlns:a="http://schemas.openxmlformats.org/drawingml/2006/main" noGrp="1"/>
          </p:cNvSpPr>
          <p:nvPr/>
        </p:nvSpPr>
        <p:spPr>
          <a:xfrm xmlns:a="http://schemas.openxmlformats.org/drawingml/2006/main">
            <a:off x="609600" y="5514975"/>
            <a:ext cx="5143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DCE2E6"/>
                </a:solidFill>
              </a:defRPr>
            </a:defPPr>
            <a:lvl1pPr algn="l">
              <a:defRPr sz="1800" b="0">
                <a:solidFill>
                  <a:srgbClr val="DCE2E6"/>
                </a:solidFill>
              </a:defRPr>
            </a:lvl1pPr>
            <a:lvl2pPr algn="l">
              <a:defRPr sz="1800" b="0">
                <a:solidFill>
                  <a:srgbClr val="DCE2E6"/>
                </a:solidFill>
              </a:defRPr>
            </a:lvl2pPr>
            <a:lvl3pPr algn="l">
              <a:defRPr sz="1800" b="0">
                <a:solidFill>
                  <a:srgbClr val="DCE2E6"/>
                </a:solidFill>
              </a:defRPr>
            </a:lvl3pPr>
            <a:lvl4pPr algn="l">
              <a:defRPr sz="1800" b="0">
                <a:solidFill>
                  <a:srgbClr val="DCE2E6"/>
                </a:solidFill>
              </a:defRPr>
            </a:lvl4pPr>
            <a:lvl5pPr algn="l">
              <a:defRPr sz="1800" b="0">
                <a:solidFill>
                  <a:srgbClr val="DCE2E6"/>
                </a:solidFill>
              </a:defRPr>
            </a:lvl5pPr>
            <a:lvl6pPr algn="l">
              <a:defRPr sz="1800" b="0">
                <a:solidFill>
                  <a:srgbClr val="DCE2E6"/>
                </a:solidFill>
              </a:defRPr>
            </a:lvl6pPr>
            <a:lvl7pPr algn="l">
              <a:defRPr sz="1800" b="0">
                <a:solidFill>
                  <a:srgbClr val="DCE2E6"/>
                </a:solidFill>
              </a:defRPr>
            </a:lvl7pPr>
            <a:lvl8pPr algn="l">
              <a:defRPr sz="1800" b="0">
                <a:solidFill>
                  <a:srgbClr val="DCE2E6"/>
                </a:solidFill>
              </a:defRPr>
            </a:lvl8pPr>
            <a:lvl9pPr algn="l">
              <a:defRPr sz="1800" b="0">
                <a:solidFill>
                  <a:srgbClr val="DCE2E6"/>
                </a:solidFill>
              </a:defRPr>
            </a:lvl9pPr>
          </a:lstStyle>
          <a:p xmlns:a="http://schemas.openxmlformats.org/drawingml/2006/main">
            <a:pPr algn="l">
              <a:defRPr sz="1800" b="0">
                <a:solidFill>
                  <a:srgbClr val="DCE2E6"/>
                </a:solidFill>
              </a:defRPr>
            </a:pPr>
            <a:r>
              <a:rPr sz="1800" b="0">
                <a:solidFill>
                  <a:srgbClr val="DCE2E6"/>
                </a:solidFill>
              </a:rPr>
              <a:t>A Bayesian filter updates beliefs</a:t>
            </a:r>
          </a:p>
          <a:p xmlns:a="http://schemas.openxmlformats.org/drawingml/2006/main">
            <a:pPr algn="l">
              <a:defRPr sz="1800" b="0">
                <a:solidFill>
                  <a:srgbClr val="DCE2E6"/>
                </a:solidFill>
              </a:defRPr>
            </a:pPr>
            <a:r>
              <a:rPr sz="1800" b="0">
                <a:solidFill>
                  <a:srgbClr val="DCE2E6"/>
                </a:solidFill>
              </a:rPr>
              <a:t>about the hidden player position.</a:t>
            </a:r>
          </a:p>
        </p:txBody>
      </p:sp>
      <p:pic>
        <p:nvPicPr>
          <p:cNvPr id="10" name="">
            <a:extLst xmlns:a="http://schemas.openxmlformats.org/drawingml/2006/main">
              <a:ext uri="{FF2B5EF4-FFF2-40B4-BE49-F238E27FC236}">
                <a16:creationId xmlns:a16="http://schemas.microsoft.com/office/drawing/2014/main" id="{81366536-630B-4FE3-8967-7E4C2BD61DF1}"/>
              </a:ext>
            </a:extLst>
          </p:cNvPr>
          <p:cNvPicPr>
            <a:picLocks xmlns:a="http://schemas.openxmlformats.org/drawingml/2006/main" noChangeAspect="1"/>
          </p:cNvPicPr>
          <p:nvPr/>
        </p:nvPicPr>
        <p:blipFill>
          <a:blip xmlns:r="http://schemas.openxmlformats.org/officeDocument/2006/relationships" xmlns:a="http://schemas.openxmlformats.org/drawingml/2006/main" r:embed="R6394e5326c7740b9"/>
          <a:srcRect xmlns:a="http://schemas.openxmlformats.org/drawingml/2006/main" l="18750" t="35417" r="42188" b="16667"/>
          <a:stretch xmlns:a="http://schemas.openxmlformats.org/drawingml/2006/main"/>
        </p:blipFill>
        <p:spPr>
          <a:xfrm xmlns:a="http://schemas.openxmlformats.org/drawingml/2006/main">
            <a:off x="6191250" y="1809750"/>
            <a:ext cx="5391150" cy="3714750"/>
          </a:xfrm>
          <a:prstGeom xmlns:a="http://schemas.openxmlformats.org/drawingml/2006/main" prst="rect">
            <a:avLst/>
          </a:prstGeom>
        </p:spPr>
      </p:pic>
      <p:sp>
        <p:nvSpPr>
          <p:cNvPr id="11" name="Training result">
            <a:extLst xmlns:a="http://schemas.openxmlformats.org/drawingml/2006/main">
              <a:ext uri="{FF2B5EF4-FFF2-40B4-BE49-F238E27FC236}">
                <a16:creationId xmlns:a16="http://schemas.microsoft.com/office/drawing/2014/main" id="{632214FE-B0F4-4783-B29C-89C76EA5B9AB}"/>
              </a:ext>
            </a:extLst>
          </p:cNvPr>
          <p:cNvSpPr>
            <a:spLocks xmlns:a="http://schemas.openxmlformats.org/drawingml/2006/main" noGrp="1"/>
          </p:cNvSpPr>
          <p:nvPr/>
        </p:nvSpPr>
        <p:spPr>
          <a:xfrm xmlns:a="http://schemas.openxmlformats.org/drawingml/2006/main">
            <a:off x="6381750" y="5743575"/>
            <a:ext cx="5200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950" b="1">
                <a:solidFill>
                  <a:srgbClr val="F0E2CA"/>
                </a:solidFill>
              </a:defRPr>
            </a:defPPr>
            <a:lvl1pPr algn="l">
              <a:defRPr sz="1950" b="1">
                <a:solidFill>
                  <a:srgbClr val="F0E2CA"/>
                </a:solidFill>
              </a:defRPr>
            </a:lvl1pPr>
            <a:lvl2pPr algn="l">
              <a:defRPr sz="1950" b="1">
                <a:solidFill>
                  <a:srgbClr val="F0E2CA"/>
                </a:solidFill>
              </a:defRPr>
            </a:lvl2pPr>
            <a:lvl3pPr algn="l">
              <a:defRPr sz="1950" b="1">
                <a:solidFill>
                  <a:srgbClr val="F0E2CA"/>
                </a:solidFill>
              </a:defRPr>
            </a:lvl3pPr>
            <a:lvl4pPr algn="l">
              <a:defRPr sz="1950" b="1">
                <a:solidFill>
                  <a:srgbClr val="F0E2CA"/>
                </a:solidFill>
              </a:defRPr>
            </a:lvl4pPr>
            <a:lvl5pPr algn="l">
              <a:defRPr sz="1950" b="1">
                <a:solidFill>
                  <a:srgbClr val="F0E2CA"/>
                </a:solidFill>
              </a:defRPr>
            </a:lvl5pPr>
            <a:lvl6pPr algn="l">
              <a:defRPr sz="1950" b="1">
                <a:solidFill>
                  <a:srgbClr val="F0E2CA"/>
                </a:solidFill>
              </a:defRPr>
            </a:lvl6pPr>
            <a:lvl7pPr algn="l">
              <a:defRPr sz="1950" b="1">
                <a:solidFill>
                  <a:srgbClr val="F0E2CA"/>
                </a:solidFill>
              </a:defRPr>
            </a:lvl7pPr>
            <a:lvl8pPr algn="l">
              <a:defRPr sz="1950" b="1">
                <a:solidFill>
                  <a:srgbClr val="F0E2CA"/>
                </a:solidFill>
              </a:defRPr>
            </a:lvl8pPr>
            <a:lvl9pPr algn="l">
              <a:defRPr sz="1950" b="1">
                <a:solidFill>
                  <a:srgbClr val="F0E2CA"/>
                </a:solidFill>
              </a:defRPr>
            </a:lvl9pPr>
          </a:lstStyle>
          <a:p xmlns:a="http://schemas.openxmlformats.org/drawingml/2006/main">
            <a:pPr algn="l">
              <a:defRPr sz="1950" b="1">
                <a:solidFill>
                  <a:srgbClr val="F0E2CA"/>
                </a:solidFill>
              </a:defRPr>
            </a:pPr>
            <a:r>
              <a:rPr sz="1950" b="1">
                <a:solidFill>
                  <a:srgbClr val="F0E2CA"/>
                </a:solidFill>
              </a:rPr>
              <a:t>1000 episodes: goal reached</a:t>
            </a:r>
          </a:p>
          <a:p xmlns:a="http://schemas.openxmlformats.org/drawingml/2006/main">
            <a:pPr algn="l">
              <a:defRPr sz="1950" b="1">
                <a:solidFill>
                  <a:srgbClr val="F0E2CA"/>
                </a:solidFill>
              </a:defRPr>
            </a:pPr>
            <a:r>
              <a:rPr sz="1950" b="1">
                <a:solidFill>
                  <a:srgbClr val="F0E2CA"/>
                </a:solidFill>
              </a:rPr>
              <a:t>98% recent training success</a:t>
            </a:r>
          </a:p>
        </p:txBody>
      </p:sp>
      <p:sp>
        <p:nvSpPr>
          <p:cNvPr id="12" name="Learning scope">
            <a:extLst xmlns:a="http://schemas.openxmlformats.org/drawingml/2006/main">
              <a:ext uri="{FF2B5EF4-FFF2-40B4-BE49-F238E27FC236}">
                <a16:creationId xmlns:a16="http://schemas.microsoft.com/office/drawing/2014/main" id="{A747F65D-0A81-40AD-894D-6CD03BB2AE56}"/>
              </a:ext>
            </a:extLst>
          </p:cNvPr>
          <p:cNvSpPr>
            <a:spLocks xmlns:a="http://schemas.openxmlformats.org/drawingml/2006/main" noGrp="1"/>
          </p:cNvSpPr>
          <p:nvPr/>
        </p:nvSpPr>
        <p:spPr>
          <a:xfrm xmlns:a="http://schemas.openxmlformats.org/drawingml/2006/main">
            <a:off x="609600" y="6419850"/>
            <a:ext cx="1000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0">
                <a:solidFill>
                  <a:srgbClr val="AAB8C1"/>
                </a:solidFill>
              </a:defRPr>
            </a:defPPr>
            <a:lvl1pPr algn="l">
              <a:defRPr sz="1500" b="0">
                <a:solidFill>
                  <a:srgbClr val="AAB8C1"/>
                </a:solidFill>
              </a:defRPr>
            </a:lvl1pPr>
            <a:lvl2pPr algn="l">
              <a:defRPr sz="1500" b="0">
                <a:solidFill>
                  <a:srgbClr val="AAB8C1"/>
                </a:solidFill>
              </a:defRPr>
            </a:lvl2pPr>
            <a:lvl3pPr algn="l">
              <a:defRPr sz="1500" b="0">
                <a:solidFill>
                  <a:srgbClr val="AAB8C1"/>
                </a:solidFill>
              </a:defRPr>
            </a:lvl3pPr>
            <a:lvl4pPr algn="l">
              <a:defRPr sz="1500" b="0">
                <a:solidFill>
                  <a:srgbClr val="AAB8C1"/>
                </a:solidFill>
              </a:defRPr>
            </a:lvl4pPr>
            <a:lvl5pPr algn="l">
              <a:defRPr sz="1500" b="0">
                <a:solidFill>
                  <a:srgbClr val="AAB8C1"/>
                </a:solidFill>
              </a:defRPr>
            </a:lvl5pPr>
            <a:lvl6pPr algn="l">
              <a:defRPr sz="1500" b="0">
                <a:solidFill>
                  <a:srgbClr val="AAB8C1"/>
                </a:solidFill>
              </a:defRPr>
            </a:lvl6pPr>
            <a:lvl7pPr algn="l">
              <a:defRPr sz="1500" b="0">
                <a:solidFill>
                  <a:srgbClr val="AAB8C1"/>
                </a:solidFill>
              </a:defRPr>
            </a:lvl7pPr>
            <a:lvl8pPr algn="l">
              <a:defRPr sz="1500" b="0">
                <a:solidFill>
                  <a:srgbClr val="AAB8C1"/>
                </a:solidFill>
              </a:defRPr>
            </a:lvl8pPr>
            <a:lvl9pPr algn="l">
              <a:defRPr sz="1500" b="0">
                <a:solidFill>
                  <a:srgbClr val="AAB8C1"/>
                </a:solidFill>
              </a:defRPr>
            </a:lvl9pPr>
          </a:lstStyle>
          <a:p xmlns:a="http://schemas.openxmlformats.org/drawingml/2006/main">
            <a:pPr algn="l">
              <a:defRPr sz="1500" b="0">
                <a:solidFill>
                  <a:srgbClr val="AAB8C1"/>
                </a:solidFill>
              </a:defRPr>
            </a:pPr>
            <a:r>
              <a:rPr sz="1500" b="0">
                <a:solidFill>
                  <a:srgbClr val="AAB8C1"/>
                </a:solidFill>
              </a:rPr>
              <a:t>Q-learning runs in the laboratory only.</a:t>
            </a:r>
          </a:p>
        </p:txBody>
      </p:sp>
    </p:spTree>
    <p:extLst>
      <p:ext uri="{BB962C8B-B14F-4D97-AF65-F5344CB8AC3E}">
        <p14:creationId xmlns:p14="http://schemas.microsoft.com/office/powerpoint/2010/main" val="636844837"/>
      </p:ext>
    </p:extLst>
  </p:cSld>
</p:sld>
</file>

<file path=ppt/slides/slide7.xml><?xml version="1.0" encoding="utf-8"?>
<p:sld xmlns:p="http://schemas.openxmlformats.org/presentationml/2006/main">
  <p:cSld>
    <p:bg>
      <p:bgPr>
        <a:solidFill xmlns:a="http://schemas.openxmlformats.org/drawingml/2006/main">
          <a:srgbClr val="0B0D12"/>
        </a:solidFill>
      </p:bgPr>
    </p:bg>
    <p:spTree>
      <p:nvGrpSpPr>
        <p:cNvPr id="1" name=""/>
        <p:cNvGrpSpPr/>
        <p:nvPr/>
      </p:nvGrpSpPr>
      <p:grpSpPr>
        <a:xfrm xmlns:a="http://schemas.openxmlformats.org/drawingml/2006/main"/>
      </p:grpSpPr>
      <p:sp>
        <p:nvSpPr>
          <p:cNvPr id="2" name="Slide title">
            <a:extLst xmlns:a="http://schemas.openxmlformats.org/drawingml/2006/main">
              <a:ext uri="{FF2B5EF4-FFF2-40B4-BE49-F238E27FC236}">
                <a16:creationId xmlns:a16="http://schemas.microsoft.com/office/drawing/2014/main" id="{BAB20626-27BF-4777-870F-CFA4D66FC802}"/>
              </a:ext>
            </a:extLst>
          </p:cNvPr>
          <p:cNvSpPr>
            <a:spLocks xmlns:a="http://schemas.openxmlformats.org/drawingml/2006/main" noGrp="1"/>
          </p:cNvSpPr>
          <p:nvPr/>
        </p:nvSpPr>
        <p:spPr>
          <a:xfrm xmlns:a="http://schemas.openxmlformats.org/drawingml/2006/main">
            <a:off x="609600" y="457200"/>
            <a:ext cx="10972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750" b="1">
                <a:solidFill>
                  <a:srgbClr val="F0E2CA"/>
                </a:solidFill>
              </a:defRPr>
            </a:defPPr>
            <a:lvl1pPr algn="l">
              <a:defRPr sz="3750" b="1">
                <a:solidFill>
                  <a:srgbClr val="F0E2CA"/>
                </a:solidFill>
              </a:defRPr>
            </a:lvl1pPr>
            <a:lvl2pPr algn="l">
              <a:defRPr sz="3750" b="1">
                <a:solidFill>
                  <a:srgbClr val="F0E2CA"/>
                </a:solidFill>
              </a:defRPr>
            </a:lvl2pPr>
            <a:lvl3pPr algn="l">
              <a:defRPr sz="3750" b="1">
                <a:solidFill>
                  <a:srgbClr val="F0E2CA"/>
                </a:solidFill>
              </a:defRPr>
            </a:lvl3pPr>
            <a:lvl4pPr algn="l">
              <a:defRPr sz="3750" b="1">
                <a:solidFill>
                  <a:srgbClr val="F0E2CA"/>
                </a:solidFill>
              </a:defRPr>
            </a:lvl4pPr>
            <a:lvl5pPr algn="l">
              <a:defRPr sz="3750" b="1">
                <a:solidFill>
                  <a:srgbClr val="F0E2CA"/>
                </a:solidFill>
              </a:defRPr>
            </a:lvl5pPr>
            <a:lvl6pPr algn="l">
              <a:defRPr sz="3750" b="1">
                <a:solidFill>
                  <a:srgbClr val="F0E2CA"/>
                </a:solidFill>
              </a:defRPr>
            </a:lvl6pPr>
            <a:lvl7pPr algn="l">
              <a:defRPr sz="3750" b="1">
                <a:solidFill>
                  <a:srgbClr val="F0E2CA"/>
                </a:solidFill>
              </a:defRPr>
            </a:lvl7pPr>
            <a:lvl8pPr algn="l">
              <a:defRPr sz="3750" b="1">
                <a:solidFill>
                  <a:srgbClr val="F0E2CA"/>
                </a:solidFill>
              </a:defRPr>
            </a:lvl8pPr>
            <a:lvl9pPr algn="l">
              <a:defRPr sz="3750" b="1">
                <a:solidFill>
                  <a:srgbClr val="F0E2CA"/>
                </a:solidFill>
              </a:defRPr>
            </a:lvl9pPr>
          </a:lstStyle>
          <a:p xmlns:a="http://schemas.openxmlformats.org/drawingml/2006/main">
            <a:pPr algn="l">
              <a:defRPr sz="3750" b="1">
                <a:solidFill>
                  <a:srgbClr val="F0E2CA"/>
                </a:solidFill>
              </a:defRPr>
            </a:pPr>
            <a:r>
              <a:rPr sz="3750" b="1">
                <a:solidFill>
                  <a:srgbClr val="F0E2CA"/>
                </a:solidFill>
              </a:rPr>
              <a:t>Validation and development</a:t>
            </a:r>
          </a:p>
        </p:txBody>
      </p:sp>
      <p:sp>
        <p:nvSpPr>
          <p:cNvPr id="3" name="Page number">
            <a:extLst xmlns:a="http://schemas.openxmlformats.org/drawingml/2006/main">
              <a:ext uri="{FF2B5EF4-FFF2-40B4-BE49-F238E27FC236}">
                <a16:creationId xmlns:a16="http://schemas.microsoft.com/office/drawing/2014/main" id="{28B39F74-D67B-43CC-A207-FFA72E24772E}"/>
              </a:ext>
            </a:extLst>
          </p:cNvPr>
          <p:cNvSpPr>
            <a:spLocks xmlns:a="http://schemas.openxmlformats.org/drawingml/2006/main" noGrp="1"/>
          </p:cNvSpPr>
          <p:nvPr/>
        </p:nvSpPr>
        <p:spPr>
          <a:xfrm xmlns:a="http://schemas.openxmlformats.org/drawingml/2006/main">
            <a:off x="11144250" y="641985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0">
                <a:solidFill>
                  <a:srgbClr val="AAB8C1"/>
                </a:solidFill>
              </a:defRPr>
            </a:defPPr>
            <a:lvl1pPr algn="l">
              <a:defRPr sz="1500" b="0">
                <a:solidFill>
                  <a:srgbClr val="AAB8C1"/>
                </a:solidFill>
              </a:defRPr>
            </a:lvl1pPr>
            <a:lvl2pPr algn="l">
              <a:defRPr sz="1500" b="0">
                <a:solidFill>
                  <a:srgbClr val="AAB8C1"/>
                </a:solidFill>
              </a:defRPr>
            </a:lvl2pPr>
            <a:lvl3pPr algn="l">
              <a:defRPr sz="1500" b="0">
                <a:solidFill>
                  <a:srgbClr val="AAB8C1"/>
                </a:solidFill>
              </a:defRPr>
            </a:lvl3pPr>
            <a:lvl4pPr algn="l">
              <a:defRPr sz="1500" b="0">
                <a:solidFill>
                  <a:srgbClr val="AAB8C1"/>
                </a:solidFill>
              </a:defRPr>
            </a:lvl4pPr>
            <a:lvl5pPr algn="l">
              <a:defRPr sz="1500" b="0">
                <a:solidFill>
                  <a:srgbClr val="AAB8C1"/>
                </a:solidFill>
              </a:defRPr>
            </a:lvl5pPr>
            <a:lvl6pPr algn="l">
              <a:defRPr sz="1500" b="0">
                <a:solidFill>
                  <a:srgbClr val="AAB8C1"/>
                </a:solidFill>
              </a:defRPr>
            </a:lvl6pPr>
            <a:lvl7pPr algn="l">
              <a:defRPr sz="1500" b="0">
                <a:solidFill>
                  <a:srgbClr val="AAB8C1"/>
                </a:solidFill>
              </a:defRPr>
            </a:lvl7pPr>
            <a:lvl8pPr algn="l">
              <a:defRPr sz="1500" b="0">
                <a:solidFill>
                  <a:srgbClr val="AAB8C1"/>
                </a:solidFill>
              </a:defRPr>
            </a:lvl8pPr>
            <a:lvl9pPr algn="l">
              <a:defRPr sz="1500" b="0">
                <a:solidFill>
                  <a:srgbClr val="AAB8C1"/>
                </a:solidFill>
              </a:defRPr>
            </a:lvl9pPr>
          </a:lstStyle>
          <a:p xmlns:a="http://schemas.openxmlformats.org/drawingml/2006/main">
            <a:pPr algn="l">
              <a:defRPr sz="1500" b="0">
                <a:solidFill>
                  <a:srgbClr val="AAB8C1"/>
                </a:solidFill>
              </a:defRPr>
            </a:pPr>
            <a:r>
              <a:rPr sz="1500" b="0">
                <a:solidFill>
                  <a:srgbClr val="AAB8C1"/>
                </a:solidFill>
              </a:rPr>
              <a:t>07</a:t>
            </a:r>
          </a:p>
        </p:txBody>
      </p:sp>
      <p:sp>
        <p:nvSpPr>
          <p:cNvPr id="4" name="Test count">
            <a:extLst xmlns:a="http://schemas.openxmlformats.org/drawingml/2006/main">
              <a:ext uri="{FF2B5EF4-FFF2-40B4-BE49-F238E27FC236}">
                <a16:creationId xmlns:a16="http://schemas.microsoft.com/office/drawing/2014/main" id="{6887A7B2-465A-4EE2-899C-FF2981F673C3}"/>
              </a:ext>
            </a:extLst>
          </p:cNvPr>
          <p:cNvSpPr>
            <a:spLocks xmlns:a="http://schemas.openxmlformats.org/drawingml/2006/main" noGrp="1"/>
          </p:cNvSpPr>
          <p:nvPr/>
        </p:nvSpPr>
        <p:spPr>
          <a:xfrm xmlns:a="http://schemas.openxmlformats.org/drawingml/2006/main">
            <a:off x="609600" y="1485900"/>
            <a:ext cx="3143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600" b="1">
                <a:solidFill>
                  <a:srgbClr val="FFC16A"/>
                </a:solidFill>
              </a:defRPr>
            </a:defPPr>
            <a:lvl1pPr algn="l">
              <a:defRPr sz="3600" b="1">
                <a:solidFill>
                  <a:srgbClr val="FFC16A"/>
                </a:solidFill>
              </a:defRPr>
            </a:lvl1pPr>
            <a:lvl2pPr algn="l">
              <a:defRPr sz="3600" b="1">
                <a:solidFill>
                  <a:srgbClr val="FFC16A"/>
                </a:solidFill>
              </a:defRPr>
            </a:lvl2pPr>
            <a:lvl3pPr algn="l">
              <a:defRPr sz="3600" b="1">
                <a:solidFill>
                  <a:srgbClr val="FFC16A"/>
                </a:solidFill>
              </a:defRPr>
            </a:lvl3pPr>
            <a:lvl4pPr algn="l">
              <a:defRPr sz="3600" b="1">
                <a:solidFill>
                  <a:srgbClr val="FFC16A"/>
                </a:solidFill>
              </a:defRPr>
            </a:lvl4pPr>
            <a:lvl5pPr algn="l">
              <a:defRPr sz="3600" b="1">
                <a:solidFill>
                  <a:srgbClr val="FFC16A"/>
                </a:solidFill>
              </a:defRPr>
            </a:lvl5pPr>
            <a:lvl6pPr algn="l">
              <a:defRPr sz="3600" b="1">
                <a:solidFill>
                  <a:srgbClr val="FFC16A"/>
                </a:solidFill>
              </a:defRPr>
            </a:lvl6pPr>
            <a:lvl7pPr algn="l">
              <a:defRPr sz="3600" b="1">
                <a:solidFill>
                  <a:srgbClr val="FFC16A"/>
                </a:solidFill>
              </a:defRPr>
            </a:lvl7pPr>
            <a:lvl8pPr algn="l">
              <a:defRPr sz="3600" b="1">
                <a:solidFill>
                  <a:srgbClr val="FFC16A"/>
                </a:solidFill>
              </a:defRPr>
            </a:lvl8pPr>
            <a:lvl9pPr algn="l">
              <a:defRPr sz="3600" b="1">
                <a:solidFill>
                  <a:srgbClr val="FFC16A"/>
                </a:solidFill>
              </a:defRPr>
            </a:lvl9pPr>
          </a:lstStyle>
          <a:p xmlns:a="http://schemas.openxmlformats.org/drawingml/2006/main">
            <a:pPr algn="l">
              <a:defRPr sz="3600" b="1">
                <a:solidFill>
                  <a:srgbClr val="FFC16A"/>
                </a:solidFill>
              </a:defRPr>
            </a:pPr>
            <a:r>
              <a:rPr sz="3600" b="1">
                <a:solidFill>
                  <a:srgbClr val="FFC16A"/>
                </a:solidFill>
              </a:rPr>
              <a:t>50 / 50</a:t>
            </a:r>
          </a:p>
        </p:txBody>
      </p:sp>
      <p:sp>
        <p:nvSpPr>
          <p:cNvPr id="5" name="Test label">
            <a:extLst xmlns:a="http://schemas.openxmlformats.org/drawingml/2006/main">
              <a:ext uri="{FF2B5EF4-FFF2-40B4-BE49-F238E27FC236}">
                <a16:creationId xmlns:a16="http://schemas.microsoft.com/office/drawing/2014/main" id="{AA5E1477-8A82-42A1-98AA-A65EFF480F5A}"/>
              </a:ext>
            </a:extLst>
          </p:cNvPr>
          <p:cNvSpPr>
            <a:spLocks xmlns:a="http://schemas.openxmlformats.org/drawingml/2006/main" noGrp="1"/>
          </p:cNvSpPr>
          <p:nvPr/>
        </p:nvSpPr>
        <p:spPr>
          <a:xfrm xmlns:a="http://schemas.openxmlformats.org/drawingml/2006/main">
            <a:off x="609600" y="2181225"/>
            <a:ext cx="323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DCE2E6"/>
                </a:solidFill>
              </a:defRPr>
            </a:defPPr>
            <a:lvl1pPr algn="l">
              <a:defRPr sz="1800" b="0">
                <a:solidFill>
                  <a:srgbClr val="DCE2E6"/>
                </a:solidFill>
              </a:defRPr>
            </a:lvl1pPr>
            <a:lvl2pPr algn="l">
              <a:defRPr sz="1800" b="0">
                <a:solidFill>
                  <a:srgbClr val="DCE2E6"/>
                </a:solidFill>
              </a:defRPr>
            </a:lvl2pPr>
            <a:lvl3pPr algn="l">
              <a:defRPr sz="1800" b="0">
                <a:solidFill>
                  <a:srgbClr val="DCE2E6"/>
                </a:solidFill>
              </a:defRPr>
            </a:lvl3pPr>
            <a:lvl4pPr algn="l">
              <a:defRPr sz="1800" b="0">
                <a:solidFill>
                  <a:srgbClr val="DCE2E6"/>
                </a:solidFill>
              </a:defRPr>
            </a:lvl4pPr>
            <a:lvl5pPr algn="l">
              <a:defRPr sz="1800" b="0">
                <a:solidFill>
                  <a:srgbClr val="DCE2E6"/>
                </a:solidFill>
              </a:defRPr>
            </a:lvl5pPr>
            <a:lvl6pPr algn="l">
              <a:defRPr sz="1800" b="0">
                <a:solidFill>
                  <a:srgbClr val="DCE2E6"/>
                </a:solidFill>
              </a:defRPr>
            </a:lvl6pPr>
            <a:lvl7pPr algn="l">
              <a:defRPr sz="1800" b="0">
                <a:solidFill>
                  <a:srgbClr val="DCE2E6"/>
                </a:solidFill>
              </a:defRPr>
            </a:lvl7pPr>
            <a:lvl8pPr algn="l">
              <a:defRPr sz="1800" b="0">
                <a:solidFill>
                  <a:srgbClr val="DCE2E6"/>
                </a:solidFill>
              </a:defRPr>
            </a:lvl8pPr>
            <a:lvl9pPr algn="l">
              <a:defRPr sz="1800" b="0">
                <a:solidFill>
                  <a:srgbClr val="DCE2E6"/>
                </a:solidFill>
              </a:defRPr>
            </a:lvl9pPr>
          </a:lstStyle>
          <a:p xmlns:a="http://schemas.openxmlformats.org/drawingml/2006/main">
            <a:pPr algn="l">
              <a:defRPr sz="1800" b="0">
                <a:solidFill>
                  <a:srgbClr val="DCE2E6"/>
                </a:solidFill>
              </a:defRPr>
            </a:pPr>
            <a:r>
              <a:rPr sz="1800" b="0">
                <a:solidFill>
                  <a:srgbClr val="DCE2E6"/>
                </a:solidFill>
              </a:rPr>
              <a:t>Automated tests passed</a:t>
            </a:r>
          </a:p>
        </p:txBody>
      </p:sp>
      <p:sp>
        <p:nvSpPr>
          <p:cNvPr id="6" name="Map count">
            <a:extLst xmlns:a="http://schemas.openxmlformats.org/drawingml/2006/main">
              <a:ext uri="{FF2B5EF4-FFF2-40B4-BE49-F238E27FC236}">
                <a16:creationId xmlns:a16="http://schemas.microsoft.com/office/drawing/2014/main" id="{6060A5D6-756B-43D6-AA52-074266F8635B}"/>
              </a:ext>
            </a:extLst>
          </p:cNvPr>
          <p:cNvSpPr>
            <a:spLocks xmlns:a="http://schemas.openxmlformats.org/drawingml/2006/main" noGrp="1"/>
          </p:cNvSpPr>
          <p:nvPr/>
        </p:nvSpPr>
        <p:spPr>
          <a:xfrm xmlns:a="http://schemas.openxmlformats.org/drawingml/2006/main">
            <a:off x="4286250" y="1485900"/>
            <a:ext cx="3143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600" b="1">
                <a:solidFill>
                  <a:srgbClr val="FFC16A"/>
                </a:solidFill>
              </a:defRPr>
            </a:defPPr>
            <a:lvl1pPr algn="l">
              <a:defRPr sz="3600" b="1">
                <a:solidFill>
                  <a:srgbClr val="FFC16A"/>
                </a:solidFill>
              </a:defRPr>
            </a:lvl1pPr>
            <a:lvl2pPr algn="l">
              <a:defRPr sz="3600" b="1">
                <a:solidFill>
                  <a:srgbClr val="FFC16A"/>
                </a:solidFill>
              </a:defRPr>
            </a:lvl2pPr>
            <a:lvl3pPr algn="l">
              <a:defRPr sz="3600" b="1">
                <a:solidFill>
                  <a:srgbClr val="FFC16A"/>
                </a:solidFill>
              </a:defRPr>
            </a:lvl3pPr>
            <a:lvl4pPr algn="l">
              <a:defRPr sz="3600" b="1">
                <a:solidFill>
                  <a:srgbClr val="FFC16A"/>
                </a:solidFill>
              </a:defRPr>
            </a:lvl4pPr>
            <a:lvl5pPr algn="l">
              <a:defRPr sz="3600" b="1">
                <a:solidFill>
                  <a:srgbClr val="FFC16A"/>
                </a:solidFill>
              </a:defRPr>
            </a:lvl5pPr>
            <a:lvl6pPr algn="l">
              <a:defRPr sz="3600" b="1">
                <a:solidFill>
                  <a:srgbClr val="FFC16A"/>
                </a:solidFill>
              </a:defRPr>
            </a:lvl6pPr>
            <a:lvl7pPr algn="l">
              <a:defRPr sz="3600" b="1">
                <a:solidFill>
                  <a:srgbClr val="FFC16A"/>
                </a:solidFill>
              </a:defRPr>
            </a:lvl7pPr>
            <a:lvl8pPr algn="l">
              <a:defRPr sz="3600" b="1">
                <a:solidFill>
                  <a:srgbClr val="FFC16A"/>
                </a:solidFill>
              </a:defRPr>
            </a:lvl8pPr>
            <a:lvl9pPr algn="l">
              <a:defRPr sz="3600" b="1">
                <a:solidFill>
                  <a:srgbClr val="FFC16A"/>
                </a:solidFill>
              </a:defRPr>
            </a:lvl9pPr>
          </a:lstStyle>
          <a:p xmlns:a="http://schemas.openxmlformats.org/drawingml/2006/main">
            <a:pPr algn="l">
              <a:defRPr sz="3600" b="1">
                <a:solidFill>
                  <a:srgbClr val="FFC16A"/>
                </a:solidFill>
              </a:defRPr>
            </a:pPr>
            <a:r>
              <a:rPr sz="3600" b="1">
                <a:solidFill>
                  <a:srgbClr val="FFC16A"/>
                </a:solidFill>
              </a:rPr>
              <a:t>150</a:t>
            </a:r>
          </a:p>
        </p:txBody>
      </p:sp>
      <p:sp>
        <p:nvSpPr>
          <p:cNvPr id="7" name="Map label">
            <a:extLst xmlns:a="http://schemas.openxmlformats.org/drawingml/2006/main">
              <a:ext uri="{FF2B5EF4-FFF2-40B4-BE49-F238E27FC236}">
                <a16:creationId xmlns:a16="http://schemas.microsoft.com/office/drawing/2014/main" id="{B901211A-BE54-4C00-AAFE-6BC74738F896}"/>
              </a:ext>
            </a:extLst>
          </p:cNvPr>
          <p:cNvSpPr>
            <a:spLocks xmlns:a="http://schemas.openxmlformats.org/drawingml/2006/main" noGrp="1"/>
          </p:cNvSpPr>
          <p:nvPr/>
        </p:nvSpPr>
        <p:spPr>
          <a:xfrm xmlns:a="http://schemas.openxmlformats.org/drawingml/2006/main">
            <a:off x="4286250" y="2181225"/>
            <a:ext cx="352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DCE2E6"/>
                </a:solidFill>
              </a:defRPr>
            </a:defPPr>
            <a:lvl1pPr algn="l">
              <a:defRPr sz="1800" b="0">
                <a:solidFill>
                  <a:srgbClr val="DCE2E6"/>
                </a:solidFill>
              </a:defRPr>
            </a:lvl1pPr>
            <a:lvl2pPr algn="l">
              <a:defRPr sz="1800" b="0">
                <a:solidFill>
                  <a:srgbClr val="DCE2E6"/>
                </a:solidFill>
              </a:defRPr>
            </a:lvl2pPr>
            <a:lvl3pPr algn="l">
              <a:defRPr sz="1800" b="0">
                <a:solidFill>
                  <a:srgbClr val="DCE2E6"/>
                </a:solidFill>
              </a:defRPr>
            </a:lvl3pPr>
            <a:lvl4pPr algn="l">
              <a:defRPr sz="1800" b="0">
                <a:solidFill>
                  <a:srgbClr val="DCE2E6"/>
                </a:solidFill>
              </a:defRPr>
            </a:lvl4pPr>
            <a:lvl5pPr algn="l">
              <a:defRPr sz="1800" b="0">
                <a:solidFill>
                  <a:srgbClr val="DCE2E6"/>
                </a:solidFill>
              </a:defRPr>
            </a:lvl5pPr>
            <a:lvl6pPr algn="l">
              <a:defRPr sz="1800" b="0">
                <a:solidFill>
                  <a:srgbClr val="DCE2E6"/>
                </a:solidFill>
              </a:defRPr>
            </a:lvl6pPr>
            <a:lvl7pPr algn="l">
              <a:defRPr sz="1800" b="0">
                <a:solidFill>
                  <a:srgbClr val="DCE2E6"/>
                </a:solidFill>
              </a:defRPr>
            </a:lvl7pPr>
            <a:lvl8pPr algn="l">
              <a:defRPr sz="1800" b="0">
                <a:solidFill>
                  <a:srgbClr val="DCE2E6"/>
                </a:solidFill>
              </a:defRPr>
            </a:lvl8pPr>
            <a:lvl9pPr algn="l">
              <a:defRPr sz="1800" b="0">
                <a:solidFill>
                  <a:srgbClr val="DCE2E6"/>
                </a:solidFill>
              </a:defRPr>
            </a:lvl9pPr>
          </a:lstStyle>
          <a:p xmlns:a="http://schemas.openxmlformats.org/drawingml/2006/main">
            <a:pPr algn="l">
              <a:defRPr sz="1800" b="0">
                <a:solidFill>
                  <a:srgbClr val="DCE2E6"/>
                </a:solidFill>
              </a:defRPr>
            </a:pPr>
            <a:r>
              <a:rPr sz="1800" b="0">
                <a:solidFill>
                  <a:srgbClr val="DCE2E6"/>
                </a:solidFill>
              </a:rPr>
              <a:t>Seeded map configurations</a:t>
            </a:r>
          </a:p>
        </p:txBody>
      </p:sp>
      <p:sp>
        <p:nvSpPr>
          <p:cNvPr id="8" name="Build status">
            <a:extLst xmlns:a="http://schemas.openxmlformats.org/drawingml/2006/main">
              <a:ext uri="{FF2B5EF4-FFF2-40B4-BE49-F238E27FC236}">
                <a16:creationId xmlns:a16="http://schemas.microsoft.com/office/drawing/2014/main" id="{54758769-B8DE-4E4E-8506-923AEE411A5D}"/>
              </a:ext>
            </a:extLst>
          </p:cNvPr>
          <p:cNvSpPr>
            <a:spLocks xmlns:a="http://schemas.openxmlformats.org/drawingml/2006/main" noGrp="1"/>
          </p:cNvSpPr>
          <p:nvPr/>
        </p:nvSpPr>
        <p:spPr>
          <a:xfrm xmlns:a="http://schemas.openxmlformats.org/drawingml/2006/main">
            <a:off x="8096250" y="1485900"/>
            <a:ext cx="34861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300" b="1">
                <a:solidFill>
                  <a:srgbClr val="FFC16A"/>
                </a:solidFill>
              </a:defRPr>
            </a:defPPr>
            <a:lvl1pPr algn="l">
              <a:defRPr sz="3300" b="1">
                <a:solidFill>
                  <a:srgbClr val="FFC16A"/>
                </a:solidFill>
              </a:defRPr>
            </a:lvl1pPr>
            <a:lvl2pPr algn="l">
              <a:defRPr sz="3300" b="1">
                <a:solidFill>
                  <a:srgbClr val="FFC16A"/>
                </a:solidFill>
              </a:defRPr>
            </a:lvl2pPr>
            <a:lvl3pPr algn="l">
              <a:defRPr sz="3300" b="1">
                <a:solidFill>
                  <a:srgbClr val="FFC16A"/>
                </a:solidFill>
              </a:defRPr>
            </a:lvl3pPr>
            <a:lvl4pPr algn="l">
              <a:defRPr sz="3300" b="1">
                <a:solidFill>
                  <a:srgbClr val="FFC16A"/>
                </a:solidFill>
              </a:defRPr>
            </a:lvl4pPr>
            <a:lvl5pPr algn="l">
              <a:defRPr sz="3300" b="1">
                <a:solidFill>
                  <a:srgbClr val="FFC16A"/>
                </a:solidFill>
              </a:defRPr>
            </a:lvl5pPr>
            <a:lvl6pPr algn="l">
              <a:defRPr sz="3300" b="1">
                <a:solidFill>
                  <a:srgbClr val="FFC16A"/>
                </a:solidFill>
              </a:defRPr>
            </a:lvl6pPr>
            <a:lvl7pPr algn="l">
              <a:defRPr sz="3300" b="1">
                <a:solidFill>
                  <a:srgbClr val="FFC16A"/>
                </a:solidFill>
              </a:defRPr>
            </a:lvl7pPr>
            <a:lvl8pPr algn="l">
              <a:defRPr sz="3300" b="1">
                <a:solidFill>
                  <a:srgbClr val="FFC16A"/>
                </a:solidFill>
              </a:defRPr>
            </a:lvl8pPr>
            <a:lvl9pPr algn="l">
              <a:defRPr sz="3300" b="1">
                <a:solidFill>
                  <a:srgbClr val="FFC16A"/>
                </a:solidFill>
              </a:defRPr>
            </a:lvl9pPr>
          </a:lstStyle>
          <a:p xmlns:a="http://schemas.openxmlformats.org/drawingml/2006/main">
            <a:pPr algn="l">
              <a:defRPr sz="3300" b="1">
                <a:solidFill>
                  <a:srgbClr val="FFC16A"/>
                </a:solidFill>
              </a:defRPr>
            </a:pPr>
            <a:r>
              <a:rPr sz="3300" b="1">
                <a:solidFill>
                  <a:srgbClr val="FFC16A"/>
                </a:solidFill>
              </a:rPr>
              <a:t>Build passes</a:t>
            </a:r>
          </a:p>
        </p:txBody>
      </p:sp>
      <p:sp>
        <p:nvSpPr>
          <p:cNvPr id="9" name="Build label">
            <a:extLst xmlns:a="http://schemas.openxmlformats.org/drawingml/2006/main">
              <a:ext uri="{FF2B5EF4-FFF2-40B4-BE49-F238E27FC236}">
                <a16:creationId xmlns:a16="http://schemas.microsoft.com/office/drawing/2014/main" id="{FA9DE20A-FD1F-48AF-B912-D56876A863DD}"/>
              </a:ext>
            </a:extLst>
          </p:cNvPr>
          <p:cNvSpPr>
            <a:spLocks xmlns:a="http://schemas.openxmlformats.org/drawingml/2006/main" noGrp="1"/>
          </p:cNvSpPr>
          <p:nvPr/>
        </p:nvSpPr>
        <p:spPr>
          <a:xfrm xmlns:a="http://schemas.openxmlformats.org/drawingml/2006/main">
            <a:off x="8096250" y="2181225"/>
            <a:ext cx="3486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DCE2E6"/>
                </a:solidFill>
              </a:defRPr>
            </a:defPPr>
            <a:lvl1pPr algn="l">
              <a:defRPr sz="1800" b="0">
                <a:solidFill>
                  <a:srgbClr val="DCE2E6"/>
                </a:solidFill>
              </a:defRPr>
            </a:lvl1pPr>
            <a:lvl2pPr algn="l">
              <a:defRPr sz="1800" b="0">
                <a:solidFill>
                  <a:srgbClr val="DCE2E6"/>
                </a:solidFill>
              </a:defRPr>
            </a:lvl2pPr>
            <a:lvl3pPr algn="l">
              <a:defRPr sz="1800" b="0">
                <a:solidFill>
                  <a:srgbClr val="DCE2E6"/>
                </a:solidFill>
              </a:defRPr>
            </a:lvl3pPr>
            <a:lvl4pPr algn="l">
              <a:defRPr sz="1800" b="0">
                <a:solidFill>
                  <a:srgbClr val="DCE2E6"/>
                </a:solidFill>
              </a:defRPr>
            </a:lvl4pPr>
            <a:lvl5pPr algn="l">
              <a:defRPr sz="1800" b="0">
                <a:solidFill>
                  <a:srgbClr val="DCE2E6"/>
                </a:solidFill>
              </a:defRPr>
            </a:lvl5pPr>
            <a:lvl6pPr algn="l">
              <a:defRPr sz="1800" b="0">
                <a:solidFill>
                  <a:srgbClr val="DCE2E6"/>
                </a:solidFill>
              </a:defRPr>
            </a:lvl6pPr>
            <a:lvl7pPr algn="l">
              <a:defRPr sz="1800" b="0">
                <a:solidFill>
                  <a:srgbClr val="DCE2E6"/>
                </a:solidFill>
              </a:defRPr>
            </a:lvl7pPr>
            <a:lvl8pPr algn="l">
              <a:defRPr sz="1800" b="0">
                <a:solidFill>
                  <a:srgbClr val="DCE2E6"/>
                </a:solidFill>
              </a:defRPr>
            </a:lvl8pPr>
            <a:lvl9pPr algn="l">
              <a:defRPr sz="1800" b="0">
                <a:solidFill>
                  <a:srgbClr val="DCE2E6"/>
                </a:solidFill>
              </a:defRPr>
            </a:lvl9pPr>
          </a:lstStyle>
          <a:p xmlns:a="http://schemas.openxmlformats.org/drawingml/2006/main">
            <a:pPr algn="l">
              <a:defRPr sz="1800" b="0">
                <a:solidFill>
                  <a:srgbClr val="DCE2E6"/>
                </a:solidFill>
              </a:defRPr>
            </a:pPr>
            <a:r>
              <a:rPr sz="1800" b="0">
                <a:solidFill>
                  <a:srgbClr val="DCE2E6"/>
                </a:solidFill>
              </a:rPr>
              <a:t>TypeScript and Vite</a:t>
            </a:r>
          </a:p>
        </p:txBody>
      </p:sp>
      <p:sp>
        <p:nvSpPr>
          <p:cNvPr id="10" name="Fix heading">
            <a:extLst xmlns:a="http://schemas.openxmlformats.org/drawingml/2006/main">
              <a:ext uri="{FF2B5EF4-FFF2-40B4-BE49-F238E27FC236}">
                <a16:creationId xmlns:a16="http://schemas.microsoft.com/office/drawing/2014/main" id="{F300D818-A068-434F-B535-730292DBBF9C}"/>
              </a:ext>
            </a:extLst>
          </p:cNvPr>
          <p:cNvSpPr>
            <a:spLocks xmlns:a="http://schemas.openxmlformats.org/drawingml/2006/main" noGrp="1"/>
          </p:cNvSpPr>
          <p:nvPr/>
        </p:nvSpPr>
        <p:spPr>
          <a:xfrm xmlns:a="http://schemas.openxmlformats.org/drawingml/2006/main">
            <a:off x="609600" y="3219450"/>
            <a:ext cx="5276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00" b="1">
                <a:solidFill>
                  <a:srgbClr val="F0E2CA"/>
                </a:solidFill>
              </a:defRPr>
            </a:defPPr>
            <a:lvl1pPr algn="l">
              <a:defRPr sz="2400" b="1">
                <a:solidFill>
                  <a:srgbClr val="F0E2CA"/>
                </a:solidFill>
              </a:defRPr>
            </a:lvl1pPr>
            <a:lvl2pPr algn="l">
              <a:defRPr sz="2400" b="1">
                <a:solidFill>
                  <a:srgbClr val="F0E2CA"/>
                </a:solidFill>
              </a:defRPr>
            </a:lvl2pPr>
            <a:lvl3pPr algn="l">
              <a:defRPr sz="2400" b="1">
                <a:solidFill>
                  <a:srgbClr val="F0E2CA"/>
                </a:solidFill>
              </a:defRPr>
            </a:lvl3pPr>
            <a:lvl4pPr algn="l">
              <a:defRPr sz="2400" b="1">
                <a:solidFill>
                  <a:srgbClr val="F0E2CA"/>
                </a:solidFill>
              </a:defRPr>
            </a:lvl4pPr>
            <a:lvl5pPr algn="l">
              <a:defRPr sz="2400" b="1">
                <a:solidFill>
                  <a:srgbClr val="F0E2CA"/>
                </a:solidFill>
              </a:defRPr>
            </a:lvl5pPr>
            <a:lvl6pPr algn="l">
              <a:defRPr sz="2400" b="1">
                <a:solidFill>
                  <a:srgbClr val="F0E2CA"/>
                </a:solidFill>
              </a:defRPr>
            </a:lvl6pPr>
            <a:lvl7pPr algn="l">
              <a:defRPr sz="2400" b="1">
                <a:solidFill>
                  <a:srgbClr val="F0E2CA"/>
                </a:solidFill>
              </a:defRPr>
            </a:lvl7pPr>
            <a:lvl8pPr algn="l">
              <a:defRPr sz="2400" b="1">
                <a:solidFill>
                  <a:srgbClr val="F0E2CA"/>
                </a:solidFill>
              </a:defRPr>
            </a:lvl8pPr>
            <a:lvl9pPr algn="l">
              <a:defRPr sz="2400" b="1">
                <a:solidFill>
                  <a:srgbClr val="F0E2CA"/>
                </a:solidFill>
              </a:defRPr>
            </a:lvl9pPr>
          </a:lstStyle>
          <a:p xmlns:a="http://schemas.openxmlformats.org/drawingml/2006/main">
            <a:pPr algn="l">
              <a:defRPr sz="2400" b="1">
                <a:solidFill>
                  <a:srgbClr val="F0E2CA"/>
                </a:solidFill>
              </a:defRPr>
            </a:pPr>
            <a:r>
              <a:rPr sz="2400" b="1">
                <a:solidFill>
                  <a:srgbClr val="F0E2CA"/>
                </a:solidFill>
              </a:rPr>
              <a:t>Resolved audit issues</a:t>
            </a:r>
          </a:p>
        </p:txBody>
      </p:sp>
      <p:sp>
        <p:nvSpPr>
          <p:cNvPr id="11" name="Fix list">
            <a:extLst xmlns:a="http://schemas.openxmlformats.org/drawingml/2006/main">
              <a:ext uri="{FF2B5EF4-FFF2-40B4-BE49-F238E27FC236}">
                <a16:creationId xmlns:a16="http://schemas.microsoft.com/office/drawing/2014/main" id="{88AD31E2-C0C3-42F8-A55A-46D590A4626D}"/>
              </a:ext>
            </a:extLst>
          </p:cNvPr>
          <p:cNvSpPr>
            <a:spLocks xmlns:a="http://schemas.openxmlformats.org/drawingml/2006/main" noGrp="1"/>
          </p:cNvSpPr>
          <p:nvPr/>
        </p:nvSpPr>
        <p:spPr>
          <a:xfrm xmlns:a="http://schemas.openxmlformats.org/drawingml/2006/main">
            <a:off x="609600" y="3771900"/>
            <a:ext cx="52768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DCE2E6"/>
                </a:solidFill>
              </a:defRPr>
            </a:defPPr>
            <a:lvl1pPr algn="l">
              <a:defRPr sz="1800" b="0">
                <a:solidFill>
                  <a:srgbClr val="DCE2E6"/>
                </a:solidFill>
              </a:defRPr>
            </a:lvl1pPr>
            <a:lvl2pPr algn="l">
              <a:defRPr sz="1800" b="0">
                <a:solidFill>
                  <a:srgbClr val="DCE2E6"/>
                </a:solidFill>
              </a:defRPr>
            </a:lvl2pPr>
            <a:lvl3pPr algn="l">
              <a:defRPr sz="1800" b="0">
                <a:solidFill>
                  <a:srgbClr val="DCE2E6"/>
                </a:solidFill>
              </a:defRPr>
            </a:lvl3pPr>
            <a:lvl4pPr algn="l">
              <a:defRPr sz="1800" b="0">
                <a:solidFill>
                  <a:srgbClr val="DCE2E6"/>
                </a:solidFill>
              </a:defRPr>
            </a:lvl4pPr>
            <a:lvl5pPr algn="l">
              <a:defRPr sz="1800" b="0">
                <a:solidFill>
                  <a:srgbClr val="DCE2E6"/>
                </a:solidFill>
              </a:defRPr>
            </a:lvl5pPr>
            <a:lvl6pPr algn="l">
              <a:defRPr sz="1800" b="0">
                <a:solidFill>
                  <a:srgbClr val="DCE2E6"/>
                </a:solidFill>
              </a:defRPr>
            </a:lvl6pPr>
            <a:lvl7pPr algn="l">
              <a:defRPr sz="1800" b="0">
                <a:solidFill>
                  <a:srgbClr val="DCE2E6"/>
                </a:solidFill>
              </a:defRPr>
            </a:lvl7pPr>
            <a:lvl8pPr algn="l">
              <a:defRPr sz="1800" b="0">
                <a:solidFill>
                  <a:srgbClr val="DCE2E6"/>
                </a:solidFill>
              </a:defRPr>
            </a:lvl8pPr>
            <a:lvl9pPr algn="l">
              <a:defRPr sz="1800" b="0">
                <a:solidFill>
                  <a:srgbClr val="DCE2E6"/>
                </a:solidFill>
              </a:defRPr>
            </a:lvl9pPr>
          </a:lstStyle>
          <a:p xmlns:a="http://schemas.openxmlformats.org/drawingml/2006/main">
            <a:pPr algn="l">
              <a:defRPr sz="1800" b="0">
                <a:solidFill>
                  <a:srgbClr val="DCE2E6"/>
                </a:solidFill>
              </a:defRPr>
            </a:pPr>
            <a:r>
              <a:rPr sz="1800" b="0">
                <a:solidFill>
                  <a:srgbClr val="DCE2E6"/>
                </a:solidFill>
              </a:rPr>
              <a:t>Prologue buttons accept mouse input.</a:t>
            </a:r>
          </a:p>
          <a:p xmlns:a="http://schemas.openxmlformats.org/drawingml/2006/main">
            <a:pPr algn="l">
              <a:defRPr sz="1800" b="0">
                <a:solidFill>
                  <a:srgbClr val="DCE2E6"/>
                </a:solidFill>
              </a:defRPr>
            </a:pPr>
            <a:r>
              <a:rPr sz="1800" b="0">
                <a:solidFill>
                  <a:srgbClr val="DCE2E6"/>
                </a:solidFill>
              </a:rPr>
              <a:t>Room counts use whole-number validation.</a:t>
            </a:r>
          </a:p>
          <a:p xmlns:a="http://schemas.openxmlformats.org/drawingml/2006/main">
            <a:pPr algn="l">
              <a:defRPr sz="1800" b="0">
                <a:solidFill>
                  <a:srgbClr val="DCE2E6"/>
                </a:solidFill>
              </a:defRPr>
            </a:pPr>
            <a:r>
              <a:rPr sz="1800" b="0">
                <a:solidFill>
                  <a:srgbClr val="DCE2E6"/>
                </a:solidFill>
              </a:rPr>
              <a:t>CSP reports fallback and trace limits.</a:t>
            </a:r>
          </a:p>
        </p:txBody>
      </p:sp>
      <p:sp>
        <p:nvSpPr>
          <p:cNvPr id="12" name="Future heading">
            <a:extLst xmlns:a="http://schemas.openxmlformats.org/drawingml/2006/main">
              <a:ext uri="{FF2B5EF4-FFF2-40B4-BE49-F238E27FC236}">
                <a16:creationId xmlns:a16="http://schemas.microsoft.com/office/drawing/2014/main" id="{90103768-AD7E-45BB-9A76-432CD076EEBF}"/>
              </a:ext>
            </a:extLst>
          </p:cNvPr>
          <p:cNvSpPr>
            <a:spLocks xmlns:a="http://schemas.openxmlformats.org/drawingml/2006/main" noGrp="1"/>
          </p:cNvSpPr>
          <p:nvPr/>
        </p:nvSpPr>
        <p:spPr>
          <a:xfrm xmlns:a="http://schemas.openxmlformats.org/drawingml/2006/main">
            <a:off x="6381750" y="3219450"/>
            <a:ext cx="5200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00" b="1">
                <a:solidFill>
                  <a:srgbClr val="F0E2CA"/>
                </a:solidFill>
              </a:defRPr>
            </a:defPPr>
            <a:lvl1pPr algn="l">
              <a:defRPr sz="2400" b="1">
                <a:solidFill>
                  <a:srgbClr val="F0E2CA"/>
                </a:solidFill>
              </a:defRPr>
            </a:lvl1pPr>
            <a:lvl2pPr algn="l">
              <a:defRPr sz="2400" b="1">
                <a:solidFill>
                  <a:srgbClr val="F0E2CA"/>
                </a:solidFill>
              </a:defRPr>
            </a:lvl2pPr>
            <a:lvl3pPr algn="l">
              <a:defRPr sz="2400" b="1">
                <a:solidFill>
                  <a:srgbClr val="F0E2CA"/>
                </a:solidFill>
              </a:defRPr>
            </a:lvl3pPr>
            <a:lvl4pPr algn="l">
              <a:defRPr sz="2400" b="1">
                <a:solidFill>
                  <a:srgbClr val="F0E2CA"/>
                </a:solidFill>
              </a:defRPr>
            </a:lvl4pPr>
            <a:lvl5pPr algn="l">
              <a:defRPr sz="2400" b="1">
                <a:solidFill>
                  <a:srgbClr val="F0E2CA"/>
                </a:solidFill>
              </a:defRPr>
            </a:lvl5pPr>
            <a:lvl6pPr algn="l">
              <a:defRPr sz="2400" b="1">
                <a:solidFill>
                  <a:srgbClr val="F0E2CA"/>
                </a:solidFill>
              </a:defRPr>
            </a:lvl6pPr>
            <a:lvl7pPr algn="l">
              <a:defRPr sz="2400" b="1">
                <a:solidFill>
                  <a:srgbClr val="F0E2CA"/>
                </a:solidFill>
              </a:defRPr>
            </a:lvl7pPr>
            <a:lvl8pPr algn="l">
              <a:defRPr sz="2400" b="1">
                <a:solidFill>
                  <a:srgbClr val="F0E2CA"/>
                </a:solidFill>
              </a:defRPr>
            </a:lvl8pPr>
            <a:lvl9pPr algn="l">
              <a:defRPr sz="2400" b="1">
                <a:solidFill>
                  <a:srgbClr val="F0E2CA"/>
                </a:solidFill>
              </a:defRPr>
            </a:lvl9pPr>
          </a:lstStyle>
          <a:p xmlns:a="http://schemas.openxmlformats.org/drawingml/2006/main">
            <a:pPr algn="l">
              <a:defRPr sz="2400" b="1">
                <a:solidFill>
                  <a:srgbClr val="F0E2CA"/>
                </a:solidFill>
              </a:defRPr>
            </a:pPr>
            <a:r>
              <a:rPr sz="2400" b="1">
                <a:solidFill>
                  <a:srgbClr val="F0E2CA"/>
                </a:solidFill>
              </a:rPr>
              <a:t>Next features</a:t>
            </a:r>
          </a:p>
        </p:txBody>
      </p:sp>
      <p:sp>
        <p:nvSpPr>
          <p:cNvPr id="13" name="Future list">
            <a:extLst xmlns:a="http://schemas.openxmlformats.org/drawingml/2006/main">
              <a:ext uri="{FF2B5EF4-FFF2-40B4-BE49-F238E27FC236}">
                <a16:creationId xmlns:a16="http://schemas.microsoft.com/office/drawing/2014/main" id="{5E998DCB-1976-446C-BAF3-815AF65E85CD}"/>
              </a:ext>
            </a:extLst>
          </p:cNvPr>
          <p:cNvSpPr>
            <a:spLocks xmlns:a="http://schemas.openxmlformats.org/drawingml/2006/main" noGrp="1"/>
          </p:cNvSpPr>
          <p:nvPr/>
        </p:nvSpPr>
        <p:spPr>
          <a:xfrm xmlns:a="http://schemas.openxmlformats.org/drawingml/2006/main">
            <a:off x="6381750" y="3771900"/>
            <a:ext cx="52006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DCE2E6"/>
                </a:solidFill>
              </a:defRPr>
            </a:defPPr>
            <a:lvl1pPr algn="l">
              <a:defRPr sz="1800" b="0">
                <a:solidFill>
                  <a:srgbClr val="DCE2E6"/>
                </a:solidFill>
              </a:defRPr>
            </a:lvl1pPr>
            <a:lvl2pPr algn="l">
              <a:defRPr sz="1800" b="0">
                <a:solidFill>
                  <a:srgbClr val="DCE2E6"/>
                </a:solidFill>
              </a:defRPr>
            </a:lvl2pPr>
            <a:lvl3pPr algn="l">
              <a:defRPr sz="1800" b="0">
                <a:solidFill>
                  <a:srgbClr val="DCE2E6"/>
                </a:solidFill>
              </a:defRPr>
            </a:lvl3pPr>
            <a:lvl4pPr algn="l">
              <a:defRPr sz="1800" b="0">
                <a:solidFill>
                  <a:srgbClr val="DCE2E6"/>
                </a:solidFill>
              </a:defRPr>
            </a:lvl4pPr>
            <a:lvl5pPr algn="l">
              <a:defRPr sz="1800" b="0">
                <a:solidFill>
                  <a:srgbClr val="DCE2E6"/>
                </a:solidFill>
              </a:defRPr>
            </a:lvl5pPr>
            <a:lvl6pPr algn="l">
              <a:defRPr sz="1800" b="0">
                <a:solidFill>
                  <a:srgbClr val="DCE2E6"/>
                </a:solidFill>
              </a:defRPr>
            </a:lvl6pPr>
            <a:lvl7pPr algn="l">
              <a:defRPr sz="1800" b="0">
                <a:solidFill>
                  <a:srgbClr val="DCE2E6"/>
                </a:solidFill>
              </a:defRPr>
            </a:lvl7pPr>
            <a:lvl8pPr algn="l">
              <a:defRPr sz="1800" b="0">
                <a:solidFill>
                  <a:srgbClr val="DCE2E6"/>
                </a:solidFill>
              </a:defRPr>
            </a:lvl8pPr>
            <a:lvl9pPr algn="l">
              <a:defRPr sz="1800" b="0">
                <a:solidFill>
                  <a:srgbClr val="DCE2E6"/>
                </a:solidFill>
              </a:defRPr>
            </a:lvl9pPr>
          </a:lstStyle>
          <a:p xmlns:a="http://schemas.openxmlformats.org/drawingml/2006/main">
            <a:pPr algn="l">
              <a:defRPr sz="1800" b="0">
                <a:solidFill>
                  <a:srgbClr val="DCE2E6"/>
                </a:solidFill>
              </a:defRPr>
            </a:pPr>
            <a:r>
              <a:rPr sz="1800" b="0">
                <a:solidFill>
                  <a:srgbClr val="DCE2E6"/>
                </a:solidFill>
              </a:rPr>
              <a:t>Memory choices and different endings.</a:t>
            </a:r>
          </a:p>
          <a:p xmlns:a="http://schemas.openxmlformats.org/drawingml/2006/main">
            <a:pPr algn="l">
              <a:defRPr sz="1800" b="0">
                <a:solidFill>
                  <a:srgbClr val="DCE2E6"/>
                </a:solidFill>
              </a:defRPr>
            </a:pPr>
            <a:r>
              <a:rPr sz="1800" b="0">
                <a:solidFill>
                  <a:srgbClr val="DCE2E6"/>
                </a:solidFill>
              </a:rPr>
              <a:t>Mini-bosses and team tactics.</a:t>
            </a:r>
          </a:p>
          <a:p xmlns:a="http://schemas.openxmlformats.org/drawingml/2006/main">
            <a:pPr algn="l">
              <a:defRPr sz="1800" b="0">
                <a:solidFill>
                  <a:srgbClr val="DCE2E6"/>
                </a:solidFill>
              </a:defRPr>
            </a:pPr>
            <a:r>
              <a:rPr sz="1800" b="0">
                <a:solidFill>
                  <a:srgbClr val="DCE2E6"/>
                </a:solidFill>
              </a:rPr>
              <a:t>More complete saves and controls.</a:t>
            </a:r>
          </a:p>
        </p:txBody>
      </p:sp>
      <p:sp>
        <p:nvSpPr>
          <p:cNvPr id="14" name="Verification limit heading">
            <a:extLst xmlns:a="http://schemas.openxmlformats.org/drawingml/2006/main">
              <a:ext uri="{FF2B5EF4-FFF2-40B4-BE49-F238E27FC236}">
                <a16:creationId xmlns:a16="http://schemas.microsoft.com/office/drawing/2014/main" id="{C6046CEC-5832-40F9-81B3-83F0C4C37F01}"/>
              </a:ext>
            </a:extLst>
          </p:cNvPr>
          <p:cNvSpPr>
            <a:spLocks xmlns:a="http://schemas.openxmlformats.org/drawingml/2006/main" noGrp="1"/>
          </p:cNvSpPr>
          <p:nvPr/>
        </p:nvSpPr>
        <p:spPr>
          <a:xfrm xmlns:a="http://schemas.openxmlformats.org/drawingml/2006/main">
            <a:off x="609600" y="5295900"/>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00" b="1">
                <a:solidFill>
                  <a:srgbClr val="FFC16A"/>
                </a:solidFill>
              </a:defRPr>
            </a:defPPr>
            <a:lvl1pPr algn="l">
              <a:defRPr sz="2100" b="1">
                <a:solidFill>
                  <a:srgbClr val="FFC16A"/>
                </a:solidFill>
              </a:defRPr>
            </a:lvl1pPr>
            <a:lvl2pPr algn="l">
              <a:defRPr sz="2100" b="1">
                <a:solidFill>
                  <a:srgbClr val="FFC16A"/>
                </a:solidFill>
              </a:defRPr>
            </a:lvl2pPr>
            <a:lvl3pPr algn="l">
              <a:defRPr sz="2100" b="1">
                <a:solidFill>
                  <a:srgbClr val="FFC16A"/>
                </a:solidFill>
              </a:defRPr>
            </a:lvl3pPr>
            <a:lvl4pPr algn="l">
              <a:defRPr sz="2100" b="1">
                <a:solidFill>
                  <a:srgbClr val="FFC16A"/>
                </a:solidFill>
              </a:defRPr>
            </a:lvl4pPr>
            <a:lvl5pPr algn="l">
              <a:defRPr sz="2100" b="1">
                <a:solidFill>
                  <a:srgbClr val="FFC16A"/>
                </a:solidFill>
              </a:defRPr>
            </a:lvl5pPr>
            <a:lvl6pPr algn="l">
              <a:defRPr sz="2100" b="1">
                <a:solidFill>
                  <a:srgbClr val="FFC16A"/>
                </a:solidFill>
              </a:defRPr>
            </a:lvl6pPr>
            <a:lvl7pPr algn="l">
              <a:defRPr sz="2100" b="1">
                <a:solidFill>
                  <a:srgbClr val="FFC16A"/>
                </a:solidFill>
              </a:defRPr>
            </a:lvl7pPr>
            <a:lvl8pPr algn="l">
              <a:defRPr sz="2100" b="1">
                <a:solidFill>
                  <a:srgbClr val="FFC16A"/>
                </a:solidFill>
              </a:defRPr>
            </a:lvl8pPr>
            <a:lvl9pPr algn="l">
              <a:defRPr sz="2100" b="1">
                <a:solidFill>
                  <a:srgbClr val="FFC16A"/>
                </a:solidFill>
              </a:defRPr>
            </a:lvl9pPr>
          </a:lstStyle>
          <a:p xmlns:a="http://schemas.openxmlformats.org/drawingml/2006/main">
            <a:pPr algn="l">
              <a:defRPr sz="2100" b="1">
                <a:solidFill>
                  <a:srgbClr val="FFC16A"/>
                </a:solidFill>
              </a:defRPr>
            </a:pPr>
            <a:r>
              <a:rPr sz="2100" b="1">
                <a:solidFill>
                  <a:srgbClr val="FFC16A"/>
                </a:solidFill>
              </a:rPr>
              <a:t>Campaign verification</a:t>
            </a:r>
          </a:p>
        </p:txBody>
      </p:sp>
      <p:sp>
        <p:nvSpPr>
          <p:cNvPr id="15" name="Verification limit">
            <a:extLst xmlns:a="http://schemas.openxmlformats.org/drawingml/2006/main">
              <a:ext uri="{FF2B5EF4-FFF2-40B4-BE49-F238E27FC236}">
                <a16:creationId xmlns:a16="http://schemas.microsoft.com/office/drawing/2014/main" id="{FBACC70F-C5B0-4DD4-B83A-A06FCB038410}"/>
              </a:ext>
            </a:extLst>
          </p:cNvPr>
          <p:cNvSpPr>
            <a:spLocks xmlns:a="http://schemas.openxmlformats.org/drawingml/2006/main" noGrp="1"/>
          </p:cNvSpPr>
          <p:nvPr/>
        </p:nvSpPr>
        <p:spPr>
          <a:xfrm xmlns:a="http://schemas.openxmlformats.org/drawingml/2006/main">
            <a:off x="609600" y="5762625"/>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DCE2E6"/>
                </a:solidFill>
              </a:defRPr>
            </a:defPPr>
            <a:lvl1pPr algn="l">
              <a:defRPr sz="1800" b="0">
                <a:solidFill>
                  <a:srgbClr val="DCE2E6"/>
                </a:solidFill>
              </a:defRPr>
            </a:lvl1pPr>
            <a:lvl2pPr algn="l">
              <a:defRPr sz="1800" b="0">
                <a:solidFill>
                  <a:srgbClr val="DCE2E6"/>
                </a:solidFill>
              </a:defRPr>
            </a:lvl2pPr>
            <a:lvl3pPr algn="l">
              <a:defRPr sz="1800" b="0">
                <a:solidFill>
                  <a:srgbClr val="DCE2E6"/>
                </a:solidFill>
              </a:defRPr>
            </a:lvl3pPr>
            <a:lvl4pPr algn="l">
              <a:defRPr sz="1800" b="0">
                <a:solidFill>
                  <a:srgbClr val="DCE2E6"/>
                </a:solidFill>
              </a:defRPr>
            </a:lvl4pPr>
            <a:lvl5pPr algn="l">
              <a:defRPr sz="1800" b="0">
                <a:solidFill>
                  <a:srgbClr val="DCE2E6"/>
                </a:solidFill>
              </a:defRPr>
            </a:lvl5pPr>
            <a:lvl6pPr algn="l">
              <a:defRPr sz="1800" b="0">
                <a:solidFill>
                  <a:srgbClr val="DCE2E6"/>
                </a:solidFill>
              </a:defRPr>
            </a:lvl6pPr>
            <a:lvl7pPr algn="l">
              <a:defRPr sz="1800" b="0">
                <a:solidFill>
                  <a:srgbClr val="DCE2E6"/>
                </a:solidFill>
              </a:defRPr>
            </a:lvl7pPr>
            <a:lvl8pPr algn="l">
              <a:defRPr sz="1800" b="0">
                <a:solidFill>
                  <a:srgbClr val="DCE2E6"/>
                </a:solidFill>
              </a:defRPr>
            </a:lvl8pPr>
            <a:lvl9pPr algn="l">
              <a:defRPr sz="1800" b="0">
                <a:solidFill>
                  <a:srgbClr val="DCE2E6"/>
                </a:solidFill>
              </a:defRPr>
            </a:lvl9pPr>
          </a:lstStyle>
          <a:p xmlns:a="http://schemas.openxmlformats.org/drawingml/2006/main">
            <a:pPr algn="l">
              <a:defRPr sz="1800" b="0">
                <a:solidFill>
                  <a:srgbClr val="DCE2E6"/>
                </a:solidFill>
              </a:defRPr>
            </a:pPr>
            <a:r>
              <a:rPr sz="1800" b="0">
                <a:solidFill>
                  <a:srgbClr val="DCE2E6"/>
                </a:solidFill>
              </a:rPr>
              <a:t>Automated driver: five floors, 98 enemies.</a:t>
            </a:r>
          </a:p>
          <a:p xmlns:a="http://schemas.openxmlformats.org/drawingml/2006/main">
            <a:pPr algn="l">
              <a:defRPr sz="1800" b="0">
                <a:solidFill>
                  <a:srgbClr val="DCE2E6"/>
                </a:solidFill>
              </a:defRPr>
            </a:pPr>
            <a:r>
              <a:rPr sz="1800" b="0">
                <a:solidFill>
                  <a:srgbClr val="DCE2E6"/>
                </a:solidFill>
              </a:rPr>
              <a:t>Human completion still needs verification.</a:t>
            </a:r>
          </a:p>
        </p:txBody>
      </p:sp>
    </p:spTree>
    <p:extLst>
      <p:ext uri="{BB962C8B-B14F-4D97-AF65-F5344CB8AC3E}">
        <p14:creationId xmlns:p14="http://schemas.microsoft.com/office/powerpoint/2010/main" val="20774784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2026-10-25T12:04:43.9930000Z</dcterms:created>
  <dcterms:modified xsi:type="dcterms:W3CDTF">2026-10-25T12:04:43.9930000Z</dcterms:modified>
</coreProperties>
</file>